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1800</c:v>
                </c:pt>
                <c:pt idx="1">
                  <c:v>2100</c:v>
                </c:pt>
                <c:pt idx="2">
                  <c:v>2250</c:v>
                </c:pt>
                <c:pt idx="3">
                  <c:v>2380</c:v>
                </c:pt>
                <c:pt idx="4">
                  <c:v>2600</c:v>
                </c:pt>
                <c:pt idx="5">
                  <c:v>2750</c:v>
                </c:pt>
                <c:pt idx="6">
                  <c:v>2846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42A5F5"/>
              </a:solidFill>
              <a:effectLst/>
            </c:spPr>
          </c:dPt>
          <c:dPt>
            <c:idx val="2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bubble3D val="0"/>
            <c:spPr>
              <a:solidFill>
                <a:srgbClr val="90CAF9"/>
              </a:solidFill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Roads</c:v>
                </c:pt>
                <c:pt idx="1">
                  <c:v>Waste</c:v>
                </c:pt>
                <c:pt idx="2">
                  <c:v>Water</c:v>
                </c:pt>
                <c:pt idx="3">
                  <c:v>Power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16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Complaints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1800</c:v>
                </c:pt>
                <c:pt idx="1">
                  <c:v>2100</c:v>
                </c:pt>
                <c:pt idx="2">
                  <c:v>2250</c:v>
                </c:pt>
                <c:pt idx="3">
                  <c:v>2380</c:v>
                </c:pt>
                <c:pt idx="4">
                  <c:v>2600</c:v>
                </c:pt>
                <c:pt idx="5">
                  <c:v>2750</c:v>
                </c:pt>
                <c:pt idx="6">
                  <c:v>2846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Roads</c:v>
                  </c:pt>
                  <c:pt idx="1">
                    <c:v>Waste</c:v>
                  </c:pt>
                  <c:pt idx="2">
                    <c:v>Water</c:v>
                  </c:pt>
                  <c:pt idx="3">
                    <c:v>Power</c:v>
                  </c:pt>
                  <c:pt idx="4">
                    <c:v>Drainage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</c:v>
                </c:pt>
                <c:pt idx="1">
                  <c:v>89</c:v>
                </c:pt>
                <c:pt idx="2">
                  <c:v>92</c:v>
                </c:pt>
                <c:pt idx="3">
                  <c:v>86</c:v>
                </c:pt>
                <c:pt idx="4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image" Target="../media/image-3-29.png"/><Relationship Id="rId30" Type="http://schemas.openxmlformats.org/officeDocument/2006/relationships/image" Target="../media/image-3-30.svg"/><Relationship Id="rId31" Type="http://schemas.openxmlformats.org/officeDocument/2006/relationships/image" Target="../media/image-3-31.png"/><Relationship Id="rId32" Type="http://schemas.openxmlformats.org/officeDocument/2006/relationships/image" Target="../media/image-3-32.svg"/><Relationship Id="rId33" Type="http://schemas.openxmlformats.org/officeDocument/2006/relationships/image" Target="../media/image-3-33.png"/><Relationship Id="rId34" Type="http://schemas.openxmlformats.org/officeDocument/2006/relationships/image" Target="../media/image-3-34.svg"/><Relationship Id="rId35" Type="http://schemas.openxmlformats.org/officeDocument/2006/relationships/image" Target="../media/image-3-35.png"/><Relationship Id="rId36" Type="http://schemas.openxmlformats.org/officeDocument/2006/relationships/image" Target="../media/image-3-36.svg"/><Relationship Id="rId37" Type="http://schemas.openxmlformats.org/officeDocument/2006/relationships/image" Target="../media/image-3-37.png"/><Relationship Id="rId38" Type="http://schemas.openxmlformats.org/officeDocument/2006/relationships/image" Target="../media/image-3-38.svg"/><Relationship Id="rId39" Type="http://schemas.openxmlformats.org/officeDocument/2006/relationships/image" Target="../media/image-3-39.png"/><Relationship Id="rId40" Type="http://schemas.openxmlformats.org/officeDocument/2006/relationships/image" Target="../media/image-3-40.svg"/><Relationship Id="rId41" Type="http://schemas.openxmlformats.org/officeDocument/2006/relationships/image" Target="../media/image-3-41.png"/><Relationship Id="rId42" Type="http://schemas.openxmlformats.org/officeDocument/2006/relationships/image" Target="../media/image-3-42.sv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image" Target="../media/image-4-41.png"/><Relationship Id="rId42" Type="http://schemas.openxmlformats.org/officeDocument/2006/relationships/image" Target="../media/image-4-42.svg"/><Relationship Id="rId43" Type="http://schemas.openxmlformats.org/officeDocument/2006/relationships/image" Target="../media/image-4-43.png"/><Relationship Id="rId44" Type="http://schemas.openxmlformats.org/officeDocument/2006/relationships/image" Target="../media/image-4-44.svg"/><Relationship Id="rId45" Type="http://schemas.openxmlformats.org/officeDocument/2006/relationships/image" Target="../media/image-4-45.png"/><Relationship Id="rId46" Type="http://schemas.openxmlformats.org/officeDocument/2006/relationships/image" Target="../media/image-4-46.sv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image" Target="../media/image-5-25.png"/><Relationship Id="rId26" Type="http://schemas.openxmlformats.org/officeDocument/2006/relationships/image" Target="../media/image-5-26.svg"/><Relationship Id="rId27" Type="http://schemas.openxmlformats.org/officeDocument/2006/relationships/image" Target="../media/image-5-27.png"/><Relationship Id="rId28" Type="http://schemas.openxmlformats.org/officeDocument/2006/relationships/image" Target="../media/image-5-28.svg"/><Relationship Id="rId29" Type="http://schemas.openxmlformats.org/officeDocument/2006/relationships/image" Target="../media/image-5-29.png"/><Relationship Id="rId30" Type="http://schemas.openxmlformats.org/officeDocument/2006/relationships/image" Target="../media/image-5-30.svg"/><Relationship Id="rId31" Type="http://schemas.openxmlformats.org/officeDocument/2006/relationships/image" Target="../media/image-5-31.png"/><Relationship Id="rId32" Type="http://schemas.openxmlformats.org/officeDocument/2006/relationships/image" Target="../media/image-5-32.svg"/><Relationship Id="rId33" Type="http://schemas.openxmlformats.org/officeDocument/2006/relationships/image" Target="../media/image-5-33.png"/><Relationship Id="rId34" Type="http://schemas.openxmlformats.org/officeDocument/2006/relationships/image" Target="../media/image-5-34.svg"/><Relationship Id="rId35" Type="http://schemas.openxmlformats.org/officeDocument/2006/relationships/image" Target="../media/image-5-35.png"/><Relationship Id="rId36" Type="http://schemas.openxmlformats.org/officeDocument/2006/relationships/image" Target="../media/image-5-36.svg"/><Relationship Id="rId37" Type="http://schemas.openxmlformats.org/officeDocument/2006/relationships/image" Target="../media/image-5-37.png"/><Relationship Id="rId38" Type="http://schemas.openxmlformats.org/officeDocument/2006/relationships/image" Target="../media/image-5-38.svg"/><Relationship Id="rId39" Type="http://schemas.openxmlformats.org/officeDocument/2006/relationships/image" Target="../media/image-5-39.png"/><Relationship Id="rId40" Type="http://schemas.openxmlformats.org/officeDocument/2006/relationships/image" Target="../media/image-5-40.svg"/><Relationship Id="rId41" Type="http://schemas.openxmlformats.org/officeDocument/2006/relationships/image" Target="../media/image-5-41.png"/><Relationship Id="rId42" Type="http://schemas.openxmlformats.org/officeDocument/2006/relationships/image" Target="../media/image-5-42.svg"/><Relationship Id="rId43" Type="http://schemas.openxmlformats.org/officeDocument/2006/relationships/image" Target="../media/image-5-43.png"/><Relationship Id="rId44" Type="http://schemas.openxmlformats.org/officeDocument/2006/relationships/image" Target="../media/image-5-44.svg"/><Relationship Id="rId45" Type="http://schemas.openxmlformats.org/officeDocument/2006/relationships/image" Target="../media/image-5-45.png"/><Relationship Id="rId46" Type="http://schemas.openxmlformats.org/officeDocument/2006/relationships/image" Target="../media/image-5-46.svg"/><Relationship Id="rId47" Type="http://schemas.openxmlformats.org/officeDocument/2006/relationships/image" Target="../media/image-5-47.png"/><Relationship Id="rId48" Type="http://schemas.openxmlformats.org/officeDocument/2006/relationships/image" Target="../media/image-5-48.sv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11.png"/><Relationship Id="rId14" Type="http://schemas.openxmlformats.org/officeDocument/2006/relationships/image" Target="../media/image-7-12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sv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sv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sv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sv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sv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sv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sv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sv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svg"/><Relationship Id="rId31" Type="http://schemas.openxmlformats.org/officeDocument/2006/relationships/image" Target="../media/image-13-31.png"/><Relationship Id="rId32" Type="http://schemas.openxmlformats.org/officeDocument/2006/relationships/image" Target="../media/image-13-32.svg"/><Relationship Id="rId33" Type="http://schemas.openxmlformats.org/officeDocument/2006/relationships/image" Target="../media/image-13-33.png"/><Relationship Id="rId34" Type="http://schemas.openxmlformats.org/officeDocument/2006/relationships/image" Target="../media/image-13-34.sv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sv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sv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sv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sv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sv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sv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sv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sv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sv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sv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sv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sv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sv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svg"/><Relationship Id="rId45" Type="http://schemas.openxmlformats.org/officeDocument/2006/relationships/slideLayout" Target="../slideLayouts/slideLayout1.xml"/><Relationship Id="rId4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sv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sv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sv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sv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sv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sv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8716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87168"/>
            <a:ext cx="12191695" cy="914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81328" y="2286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Smart City Complaint Management Platform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B5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complaint, verified by AI, delivered to the right department.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64040" y="256032"/>
            <a:ext cx="242316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0" y="3108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JANHELP</a:t>
            </a:r>
            <a:endParaRPr lang="en-US" sz="88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6920" y="635508"/>
            <a:ext cx="118872" cy="1188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11512" y="603504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technology</a:t>
            </a:r>
            <a:endParaRPr lang="en-US" sz="76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6920" y="836676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11512" y="80467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first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6920" y="1037844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11512" y="100584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governance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6920" y="1239012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11512" y="12070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cities</a:t>
            </a:r>
            <a:endParaRPr lang="en-US" sz="760" dirty="0"/>
          </a:p>
        </p:txBody>
      </p:sp>
      <p:sp>
        <p:nvSpPr>
          <p:cNvPr id="18" name="Shape 12"/>
          <p:cNvSpPr/>
          <p:nvPr/>
        </p:nvSpPr>
        <p:spPr>
          <a:xfrm>
            <a:off x="292608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2336" y="295351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8096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Verification</a:t>
            </a:r>
            <a:endParaRPr lang="en-US" sz="780" dirty="0"/>
          </a:p>
        </p:txBody>
      </p:sp>
      <p:sp>
        <p:nvSpPr>
          <p:cNvPr id="21" name="Text 14"/>
          <p:cNvSpPr/>
          <p:nvPr/>
        </p:nvSpPr>
        <p:spPr>
          <a:xfrm>
            <a:off x="768096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proof analysis</a:t>
            </a:r>
            <a:endParaRPr lang="en-US" sz="670" dirty="0"/>
          </a:p>
        </p:txBody>
      </p:sp>
      <p:sp>
        <p:nvSpPr>
          <p:cNvPr id="22" name="Shape 15"/>
          <p:cNvSpPr/>
          <p:nvPr/>
        </p:nvSpPr>
        <p:spPr>
          <a:xfrm>
            <a:off x="2240280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50008" y="2953512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715768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Check</a:t>
            </a:r>
            <a:endParaRPr lang="en-US" sz="780" dirty="0"/>
          </a:p>
        </p:txBody>
      </p:sp>
      <p:sp>
        <p:nvSpPr>
          <p:cNvPr id="25" name="Text 17"/>
          <p:cNvSpPr/>
          <p:nvPr/>
        </p:nvSpPr>
        <p:spPr>
          <a:xfrm>
            <a:off x="2715768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repeated reports</a:t>
            </a:r>
            <a:endParaRPr lang="en-US" sz="670" dirty="0"/>
          </a:p>
        </p:txBody>
      </p:sp>
      <p:sp>
        <p:nvSpPr>
          <p:cNvPr id="26" name="Shape 18"/>
          <p:cNvSpPr/>
          <p:nvPr/>
        </p:nvSpPr>
        <p:spPr>
          <a:xfrm>
            <a:off x="4187952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7680" y="2953512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63440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Routing</a:t>
            </a:r>
            <a:endParaRPr lang="en-US" sz="780" dirty="0"/>
          </a:p>
        </p:txBody>
      </p:sp>
      <p:sp>
        <p:nvSpPr>
          <p:cNvPr id="29" name="Text 20"/>
          <p:cNvSpPr/>
          <p:nvPr/>
        </p:nvSpPr>
        <p:spPr>
          <a:xfrm>
            <a:off x="4663440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department assignment</a:t>
            </a:r>
            <a:endParaRPr lang="en-US" sz="670" dirty="0"/>
          </a:p>
        </p:txBody>
      </p:sp>
      <p:sp>
        <p:nvSpPr>
          <p:cNvPr id="30" name="Shape 21"/>
          <p:cNvSpPr/>
          <p:nvPr/>
        </p:nvSpPr>
        <p:spPr>
          <a:xfrm>
            <a:off x="6135624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45352" y="2953512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11112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Tracking</a:t>
            </a:r>
            <a:endParaRPr lang="en-US" sz="780" dirty="0"/>
          </a:p>
        </p:txBody>
      </p:sp>
      <p:sp>
        <p:nvSpPr>
          <p:cNvPr id="33" name="Text 23"/>
          <p:cNvSpPr/>
          <p:nvPr/>
        </p:nvSpPr>
        <p:spPr>
          <a:xfrm>
            <a:off x="6611112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and timeline</a:t>
            </a:r>
            <a:endParaRPr lang="en-US" sz="670" dirty="0"/>
          </a:p>
        </p:txBody>
      </p:sp>
      <p:sp>
        <p:nvSpPr>
          <p:cNvPr id="34" name="Shape 24"/>
          <p:cNvSpPr/>
          <p:nvPr/>
        </p:nvSpPr>
        <p:spPr>
          <a:xfrm>
            <a:off x="8083296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93024" y="2953512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558784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</a:t>
            </a:r>
            <a:endParaRPr lang="en-US" sz="780" dirty="0"/>
          </a:p>
        </p:txBody>
      </p:sp>
      <p:sp>
        <p:nvSpPr>
          <p:cNvPr id="37" name="Text 26"/>
          <p:cNvSpPr/>
          <p:nvPr/>
        </p:nvSpPr>
        <p:spPr>
          <a:xfrm>
            <a:off x="8558784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accountability</a:t>
            </a:r>
            <a:endParaRPr lang="en-US" sz="670" dirty="0"/>
          </a:p>
        </p:txBody>
      </p:sp>
      <p:sp>
        <p:nvSpPr>
          <p:cNvPr id="38" name="Shape 27"/>
          <p:cNvSpPr/>
          <p:nvPr/>
        </p:nvSpPr>
        <p:spPr>
          <a:xfrm>
            <a:off x="10030968" y="2788920"/>
            <a:ext cx="178308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40696" y="2953512"/>
            <a:ext cx="292608" cy="29260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0506456" y="28620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Flow</a:t>
            </a:r>
            <a:endParaRPr lang="en-US" sz="780" dirty="0"/>
          </a:p>
        </p:txBody>
      </p:sp>
      <p:sp>
        <p:nvSpPr>
          <p:cNvPr id="41" name="Text 29"/>
          <p:cNvSpPr/>
          <p:nvPr/>
        </p:nvSpPr>
        <p:spPr>
          <a:xfrm>
            <a:off x="10506456" y="3099816"/>
            <a:ext cx="12344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if not solved</a:t>
            </a:r>
            <a:endParaRPr lang="en-US" sz="670" dirty="0"/>
          </a:p>
        </p:txBody>
      </p:sp>
      <p:sp>
        <p:nvSpPr>
          <p:cNvPr id="42" name="Shape 30"/>
          <p:cNvSpPr/>
          <p:nvPr/>
        </p:nvSpPr>
        <p:spPr>
          <a:xfrm>
            <a:off x="292608" y="3803904"/>
            <a:ext cx="21031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329184" y="38221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LIFECYCLE</a:t>
            </a:r>
            <a:endParaRPr lang="en-US" sz="820" dirty="0"/>
          </a:p>
        </p:txBody>
      </p:sp>
      <p:sp>
        <p:nvSpPr>
          <p:cNvPr id="44" name="Shape 32"/>
          <p:cNvSpPr/>
          <p:nvPr/>
        </p:nvSpPr>
        <p:spPr>
          <a:xfrm>
            <a:off x="292608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38328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730" dirty="0"/>
          </a:p>
        </p:txBody>
      </p:sp>
      <p:sp>
        <p:nvSpPr>
          <p:cNvPr id="46" name="Text 34"/>
          <p:cNvSpPr/>
          <p:nvPr/>
        </p:nvSpPr>
        <p:spPr>
          <a:xfrm>
            <a:off x="338328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and proof</a:t>
            </a:r>
            <a:endParaRPr lang="en-US" sz="640" dirty="0"/>
          </a:p>
        </p:txBody>
      </p:sp>
      <p:sp>
        <p:nvSpPr>
          <p:cNvPr id="47" name="Shape 35"/>
          <p:cNvSpPr/>
          <p:nvPr/>
        </p:nvSpPr>
        <p:spPr>
          <a:xfrm>
            <a:off x="1801368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48" name="Shape 36"/>
          <p:cNvSpPr/>
          <p:nvPr/>
        </p:nvSpPr>
        <p:spPr>
          <a:xfrm>
            <a:off x="1956816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2002536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730" dirty="0"/>
          </a:p>
        </p:txBody>
      </p:sp>
      <p:sp>
        <p:nvSpPr>
          <p:cNvPr id="50" name="Text 38"/>
          <p:cNvSpPr/>
          <p:nvPr/>
        </p:nvSpPr>
        <p:spPr>
          <a:xfrm>
            <a:off x="2002536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proof check</a:t>
            </a:r>
            <a:endParaRPr lang="en-US" sz="640" dirty="0"/>
          </a:p>
        </p:txBody>
      </p:sp>
      <p:sp>
        <p:nvSpPr>
          <p:cNvPr id="51" name="Shape 39"/>
          <p:cNvSpPr/>
          <p:nvPr/>
        </p:nvSpPr>
        <p:spPr>
          <a:xfrm>
            <a:off x="3465576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2" name="Shape 40"/>
          <p:cNvSpPr/>
          <p:nvPr/>
        </p:nvSpPr>
        <p:spPr>
          <a:xfrm>
            <a:off x="3621024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3666744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730" dirty="0"/>
          </a:p>
        </p:txBody>
      </p:sp>
      <p:sp>
        <p:nvSpPr>
          <p:cNvPr id="54" name="Text 42"/>
          <p:cNvSpPr/>
          <p:nvPr/>
        </p:nvSpPr>
        <p:spPr>
          <a:xfrm>
            <a:off x="3666744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filter</a:t>
            </a:r>
            <a:endParaRPr lang="en-US" sz="640" dirty="0"/>
          </a:p>
        </p:txBody>
      </p:sp>
      <p:sp>
        <p:nvSpPr>
          <p:cNvPr id="55" name="Shape 43"/>
          <p:cNvSpPr/>
          <p:nvPr/>
        </p:nvSpPr>
        <p:spPr>
          <a:xfrm>
            <a:off x="5129784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6" name="Shape 44"/>
          <p:cNvSpPr/>
          <p:nvPr/>
        </p:nvSpPr>
        <p:spPr>
          <a:xfrm>
            <a:off x="5285232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7" name="Text 45"/>
          <p:cNvSpPr/>
          <p:nvPr/>
        </p:nvSpPr>
        <p:spPr>
          <a:xfrm>
            <a:off x="5330952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730" dirty="0"/>
          </a:p>
        </p:txBody>
      </p:sp>
      <p:sp>
        <p:nvSpPr>
          <p:cNvPr id="58" name="Text 46"/>
          <p:cNvSpPr/>
          <p:nvPr/>
        </p:nvSpPr>
        <p:spPr>
          <a:xfrm>
            <a:off x="5330952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dept</a:t>
            </a:r>
            <a:endParaRPr lang="en-US" sz="640" dirty="0"/>
          </a:p>
        </p:txBody>
      </p:sp>
      <p:sp>
        <p:nvSpPr>
          <p:cNvPr id="59" name="Shape 47"/>
          <p:cNvSpPr/>
          <p:nvPr/>
        </p:nvSpPr>
        <p:spPr>
          <a:xfrm>
            <a:off x="6793992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60" name="Shape 48"/>
          <p:cNvSpPr/>
          <p:nvPr/>
        </p:nvSpPr>
        <p:spPr>
          <a:xfrm>
            <a:off x="6949440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6995160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</a:t>
            </a:r>
            <a:endParaRPr lang="en-US" sz="730" dirty="0"/>
          </a:p>
        </p:txBody>
      </p:sp>
      <p:sp>
        <p:nvSpPr>
          <p:cNvPr id="62" name="Text 50"/>
          <p:cNvSpPr/>
          <p:nvPr/>
        </p:nvSpPr>
        <p:spPr>
          <a:xfrm>
            <a:off x="6995160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work</a:t>
            </a:r>
            <a:endParaRPr lang="en-US" sz="640" dirty="0"/>
          </a:p>
        </p:txBody>
      </p:sp>
      <p:sp>
        <p:nvSpPr>
          <p:cNvPr id="63" name="Shape 51"/>
          <p:cNvSpPr/>
          <p:nvPr/>
        </p:nvSpPr>
        <p:spPr>
          <a:xfrm>
            <a:off x="8458200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64" name="Shape 52"/>
          <p:cNvSpPr/>
          <p:nvPr/>
        </p:nvSpPr>
        <p:spPr>
          <a:xfrm>
            <a:off x="8613648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8659368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730" dirty="0"/>
          </a:p>
        </p:txBody>
      </p:sp>
      <p:sp>
        <p:nvSpPr>
          <p:cNvPr id="66" name="Text 54"/>
          <p:cNvSpPr/>
          <p:nvPr/>
        </p:nvSpPr>
        <p:spPr>
          <a:xfrm>
            <a:off x="8659368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rating</a:t>
            </a:r>
            <a:endParaRPr lang="en-US" sz="640" dirty="0"/>
          </a:p>
        </p:txBody>
      </p:sp>
      <p:sp>
        <p:nvSpPr>
          <p:cNvPr id="67" name="Shape 55"/>
          <p:cNvSpPr/>
          <p:nvPr/>
        </p:nvSpPr>
        <p:spPr>
          <a:xfrm>
            <a:off x="10122408" y="4471416"/>
            <a:ext cx="118872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68" name="Shape 56"/>
          <p:cNvSpPr/>
          <p:nvPr/>
        </p:nvSpPr>
        <p:spPr>
          <a:xfrm>
            <a:off x="10277856" y="4160520"/>
            <a:ext cx="150876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9" name="Text 57"/>
          <p:cNvSpPr/>
          <p:nvPr/>
        </p:nvSpPr>
        <p:spPr>
          <a:xfrm>
            <a:off x="10323576" y="42153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</a:t>
            </a:r>
            <a:endParaRPr lang="en-US" sz="730" dirty="0"/>
          </a:p>
        </p:txBody>
      </p:sp>
      <p:sp>
        <p:nvSpPr>
          <p:cNvPr id="70" name="Text 58"/>
          <p:cNvSpPr/>
          <p:nvPr/>
        </p:nvSpPr>
        <p:spPr>
          <a:xfrm>
            <a:off x="10323576" y="4425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not fixed</a:t>
            </a:r>
            <a:endParaRPr lang="en-US" sz="640" dirty="0"/>
          </a:p>
        </p:txBody>
      </p:sp>
      <p:sp>
        <p:nvSpPr>
          <p:cNvPr id="71" name="Shape 59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Mission: verified complaints, accountable departments, faster civic resolution.</a:t>
            </a:r>
            <a:endParaRPr lang="en-US" sz="1150" dirty="0"/>
          </a:p>
        </p:txBody>
      </p:sp>
      <p:sp>
        <p:nvSpPr>
          <p:cNvPr id="73" name="Text 61"/>
          <p:cNvSpPr/>
          <p:nvPr/>
        </p:nvSpPr>
        <p:spPr>
          <a:xfrm>
            <a:off x="137160" y="6565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OF 15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OF 15 - THE REAL-WORLD PROBLEM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154680" cy="1335024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0704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292608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Cities do not fail only because citizens cannot complain. They fail because complaints become unreliable, unverified and untrackable before they reach the right people.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3675888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GOES WRONG?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3320" y="1298448"/>
            <a:ext cx="128016" cy="1280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86200" y="1271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department</a:t>
            </a:r>
            <a:endParaRPr lang="en-US" sz="74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3320" y="1536192"/>
            <a:ext cx="128016" cy="1280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5087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location</a:t>
            </a:r>
            <a:endParaRPr lang="en-US" sz="74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3320" y="1773936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17465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evidence</a:t>
            </a:r>
            <a:endParaRPr lang="en-US" sz="74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320" y="2011680"/>
            <a:ext cx="128016" cy="1280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86200" y="19842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reports</a:t>
            </a:r>
            <a:endParaRPr lang="en-US" sz="74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03320" y="2249424"/>
            <a:ext cx="128016" cy="1280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6200" y="22219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updates</a:t>
            </a:r>
            <a:endParaRPr lang="en-US" sz="74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3320" y="2487168"/>
            <a:ext cx="128016" cy="12801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886200" y="2459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forwarding</a:t>
            </a:r>
            <a:endParaRPr lang="en-US" sz="74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92240" y="1298448"/>
            <a:ext cx="128016" cy="12801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675120" y="12710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ownership</a:t>
            </a:r>
            <a:endParaRPr lang="en-US" sz="74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92240" y="1536192"/>
            <a:ext cx="128016" cy="12801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675120" y="15087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proof of work</a:t>
            </a:r>
            <a:endParaRPr lang="en-US" sz="74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2240" y="1773936"/>
            <a:ext cx="128016" cy="12801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675120" y="17465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reopen loop</a:t>
            </a:r>
            <a:endParaRPr lang="en-US" sz="74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92240" y="2011680"/>
            <a:ext cx="128016" cy="128016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675120" y="19842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accountability</a:t>
            </a:r>
            <a:endParaRPr lang="en-US" sz="74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92240" y="2249424"/>
            <a:ext cx="128016" cy="12801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675120" y="22219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frustration</a:t>
            </a:r>
            <a:endParaRPr lang="en-US" sz="74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92240" y="2487168"/>
            <a:ext cx="128016" cy="128016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675120" y="2459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city data</a:t>
            </a:r>
            <a:endParaRPr lang="en-US" sz="740" dirty="0"/>
          </a:p>
        </p:txBody>
      </p:sp>
      <p:sp>
        <p:nvSpPr>
          <p:cNvPr id="35" name="Shape 21"/>
          <p:cNvSpPr/>
          <p:nvPr/>
        </p:nvSpPr>
        <p:spPr>
          <a:xfrm>
            <a:off x="228600" y="2542032"/>
            <a:ext cx="11722608" cy="10972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6" name="Text 22"/>
          <p:cNvSpPr/>
          <p:nvPr/>
        </p:nvSpPr>
        <p:spPr>
          <a:xfrm>
            <a:off x="320040" y="263347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BREAKDOWN PATH</a:t>
            </a:r>
            <a:endParaRPr lang="en-US" sz="870" dirty="0"/>
          </a:p>
        </p:txBody>
      </p:sp>
      <p:sp>
        <p:nvSpPr>
          <p:cNvPr id="37" name="Shape 23"/>
          <p:cNvSpPr/>
          <p:nvPr/>
        </p:nvSpPr>
        <p:spPr>
          <a:xfrm>
            <a:off x="320040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38" name="Text 24"/>
          <p:cNvSpPr/>
          <p:nvPr/>
        </p:nvSpPr>
        <p:spPr>
          <a:xfrm>
            <a:off x="356616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650" dirty="0"/>
          </a:p>
        </p:txBody>
      </p:sp>
      <p:sp>
        <p:nvSpPr>
          <p:cNvPr id="39" name="Shape 25"/>
          <p:cNvSpPr/>
          <p:nvPr/>
        </p:nvSpPr>
        <p:spPr>
          <a:xfrm>
            <a:off x="1463040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40" name="Shape 26"/>
          <p:cNvSpPr/>
          <p:nvPr/>
        </p:nvSpPr>
        <p:spPr>
          <a:xfrm>
            <a:off x="1581912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1618488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650" dirty="0"/>
          </a:p>
        </p:txBody>
      </p:sp>
      <p:sp>
        <p:nvSpPr>
          <p:cNvPr id="42" name="Shape 28"/>
          <p:cNvSpPr/>
          <p:nvPr/>
        </p:nvSpPr>
        <p:spPr>
          <a:xfrm>
            <a:off x="2724912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43" name="Shape 29"/>
          <p:cNvSpPr/>
          <p:nvPr/>
        </p:nvSpPr>
        <p:spPr>
          <a:xfrm>
            <a:off x="2843784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2880360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form</a:t>
            </a:r>
            <a:endParaRPr lang="en-US" sz="650" dirty="0"/>
          </a:p>
        </p:txBody>
      </p:sp>
      <p:sp>
        <p:nvSpPr>
          <p:cNvPr id="45" name="Shape 31"/>
          <p:cNvSpPr/>
          <p:nvPr/>
        </p:nvSpPr>
        <p:spPr>
          <a:xfrm>
            <a:off x="3986784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46" name="Shape 32"/>
          <p:cNvSpPr/>
          <p:nvPr/>
        </p:nvSpPr>
        <p:spPr>
          <a:xfrm>
            <a:off x="4105656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4142232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info</a:t>
            </a:r>
            <a:endParaRPr lang="en-US" sz="650" dirty="0"/>
          </a:p>
        </p:txBody>
      </p:sp>
      <p:sp>
        <p:nvSpPr>
          <p:cNvPr id="48" name="Shape 34"/>
          <p:cNvSpPr/>
          <p:nvPr/>
        </p:nvSpPr>
        <p:spPr>
          <a:xfrm>
            <a:off x="5248656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49" name="Shape 35"/>
          <p:cNvSpPr/>
          <p:nvPr/>
        </p:nvSpPr>
        <p:spPr>
          <a:xfrm>
            <a:off x="5367528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5404104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duplicate check</a:t>
            </a:r>
            <a:endParaRPr lang="en-US" sz="650" dirty="0"/>
          </a:p>
        </p:txBody>
      </p:sp>
      <p:sp>
        <p:nvSpPr>
          <p:cNvPr id="51" name="Shape 37"/>
          <p:cNvSpPr/>
          <p:nvPr/>
        </p:nvSpPr>
        <p:spPr>
          <a:xfrm>
            <a:off x="6510528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52" name="Shape 38"/>
          <p:cNvSpPr/>
          <p:nvPr/>
        </p:nvSpPr>
        <p:spPr>
          <a:xfrm>
            <a:off x="6629400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6665976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Forwarding</a:t>
            </a:r>
            <a:endParaRPr lang="en-US" sz="650" dirty="0"/>
          </a:p>
        </p:txBody>
      </p:sp>
      <p:sp>
        <p:nvSpPr>
          <p:cNvPr id="54" name="Shape 40"/>
          <p:cNvSpPr/>
          <p:nvPr/>
        </p:nvSpPr>
        <p:spPr>
          <a:xfrm>
            <a:off x="7772400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55" name="Shape 41"/>
          <p:cNvSpPr/>
          <p:nvPr/>
        </p:nvSpPr>
        <p:spPr>
          <a:xfrm>
            <a:off x="7891272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7927848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status</a:t>
            </a:r>
            <a:endParaRPr lang="en-US" sz="650" dirty="0"/>
          </a:p>
        </p:txBody>
      </p:sp>
      <p:sp>
        <p:nvSpPr>
          <p:cNvPr id="57" name="Shape 43"/>
          <p:cNvSpPr/>
          <p:nvPr/>
        </p:nvSpPr>
        <p:spPr>
          <a:xfrm>
            <a:off x="9034272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58" name="Shape 44"/>
          <p:cNvSpPr/>
          <p:nvPr/>
        </p:nvSpPr>
        <p:spPr>
          <a:xfrm>
            <a:off x="9153144" y="2926080"/>
            <a:ext cx="1143000" cy="457200"/>
          </a:xfrm>
          <a:prstGeom prst="rect">
            <a:avLst/>
          </a:prstGeom>
          <a:solidFill>
            <a:srgbClr val="FFFFF8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9189720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closure</a:t>
            </a:r>
            <a:endParaRPr lang="en-US" sz="650" dirty="0"/>
          </a:p>
        </p:txBody>
      </p:sp>
      <p:sp>
        <p:nvSpPr>
          <p:cNvPr id="60" name="Shape 46"/>
          <p:cNvSpPr/>
          <p:nvPr/>
        </p:nvSpPr>
        <p:spPr>
          <a:xfrm>
            <a:off x="10296144" y="3154680"/>
            <a:ext cx="73152" cy="0"/>
          </a:xfrm>
          <a:prstGeom prst="line">
            <a:avLst/>
          </a:prstGeom>
          <a:noFill/>
          <a:ln w="7620">
            <a:solidFill>
              <a:srgbClr val="E65100"/>
            </a:solidFill>
            <a:prstDash val="solid"/>
            <a:headEnd type="none"/>
            <a:tailEnd type="triangle"/>
          </a:ln>
        </p:spPr>
      </p:sp>
      <p:sp>
        <p:nvSpPr>
          <p:cNvPr id="61" name="Shape 47"/>
          <p:cNvSpPr/>
          <p:nvPr/>
        </p:nvSpPr>
        <p:spPr>
          <a:xfrm>
            <a:off x="10415016" y="2926080"/>
            <a:ext cx="1143000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10451592" y="297180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trust</a:t>
            </a:r>
            <a:endParaRPr lang="en-US" sz="650" dirty="0"/>
          </a:p>
        </p:txBody>
      </p:sp>
      <p:sp>
        <p:nvSpPr>
          <p:cNvPr id="63" name="Shape 49"/>
          <p:cNvSpPr/>
          <p:nvPr/>
        </p:nvSpPr>
        <p:spPr>
          <a:xfrm>
            <a:off x="228600" y="3950208"/>
            <a:ext cx="20116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4" name="Text 50"/>
          <p:cNvSpPr/>
          <p:nvPr/>
        </p:nvSpPr>
        <p:spPr>
          <a:xfrm>
            <a:off x="265176" y="39684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CITIES</a:t>
            </a:r>
            <a:endParaRPr lang="en-US" sz="820" dirty="0"/>
          </a:p>
        </p:txBody>
      </p:sp>
      <p:sp>
        <p:nvSpPr>
          <p:cNvPr id="65" name="Shape 51"/>
          <p:cNvSpPr/>
          <p:nvPr/>
        </p:nvSpPr>
        <p:spPr>
          <a:xfrm>
            <a:off x="228600" y="43159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6" name="Text 52"/>
          <p:cNvSpPr/>
          <p:nvPr/>
        </p:nvSpPr>
        <p:spPr>
          <a:xfrm>
            <a:off x="274320" y="43708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resolution</a:t>
            </a:r>
            <a:endParaRPr lang="en-US" sz="650" dirty="0"/>
          </a:p>
        </p:txBody>
      </p:sp>
      <p:sp>
        <p:nvSpPr>
          <p:cNvPr id="67" name="Shape 53"/>
          <p:cNvSpPr/>
          <p:nvPr/>
        </p:nvSpPr>
        <p:spPr>
          <a:xfrm>
            <a:off x="1527048" y="43159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1572768" y="43708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cost</a:t>
            </a:r>
            <a:endParaRPr lang="en-US" sz="650" dirty="0"/>
          </a:p>
        </p:txBody>
      </p:sp>
      <p:sp>
        <p:nvSpPr>
          <p:cNvPr id="69" name="Shape 55"/>
          <p:cNvSpPr/>
          <p:nvPr/>
        </p:nvSpPr>
        <p:spPr>
          <a:xfrm>
            <a:off x="2825496" y="43159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2871216" y="43708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trust</a:t>
            </a:r>
            <a:endParaRPr lang="en-US" sz="650" dirty="0"/>
          </a:p>
        </p:txBody>
      </p:sp>
      <p:sp>
        <p:nvSpPr>
          <p:cNvPr id="71" name="Shape 57"/>
          <p:cNvSpPr/>
          <p:nvPr/>
        </p:nvSpPr>
        <p:spPr>
          <a:xfrm>
            <a:off x="4123944" y="43159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2" name="Text 58"/>
          <p:cNvSpPr/>
          <p:nvPr/>
        </p:nvSpPr>
        <p:spPr>
          <a:xfrm>
            <a:off x="4169664" y="43708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Wasted manpower</a:t>
            </a:r>
            <a:endParaRPr lang="en-US" sz="650" dirty="0"/>
          </a:p>
        </p:txBody>
      </p:sp>
      <p:sp>
        <p:nvSpPr>
          <p:cNvPr id="73" name="Shape 59"/>
          <p:cNvSpPr/>
          <p:nvPr/>
        </p:nvSpPr>
        <p:spPr>
          <a:xfrm>
            <a:off x="5422392" y="43159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4" name="Text 60"/>
          <p:cNvSpPr/>
          <p:nvPr/>
        </p:nvSpPr>
        <p:spPr>
          <a:xfrm>
            <a:off x="5468112" y="43708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data</a:t>
            </a:r>
            <a:endParaRPr lang="en-US" sz="650" dirty="0"/>
          </a:p>
        </p:txBody>
      </p:sp>
      <p:sp>
        <p:nvSpPr>
          <p:cNvPr id="75" name="Shape 61"/>
          <p:cNvSpPr/>
          <p:nvPr/>
        </p:nvSpPr>
        <p:spPr>
          <a:xfrm>
            <a:off x="228600" y="47731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6" name="Text 62"/>
          <p:cNvSpPr/>
          <p:nvPr/>
        </p:nvSpPr>
        <p:spPr>
          <a:xfrm>
            <a:off x="274320" y="48280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accountability</a:t>
            </a:r>
            <a:endParaRPr lang="en-US" sz="650" dirty="0"/>
          </a:p>
        </p:txBody>
      </p:sp>
      <p:sp>
        <p:nvSpPr>
          <p:cNvPr id="77" name="Shape 63"/>
          <p:cNvSpPr/>
          <p:nvPr/>
        </p:nvSpPr>
        <p:spPr>
          <a:xfrm>
            <a:off x="1527048" y="47731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8" name="Text 64"/>
          <p:cNvSpPr/>
          <p:nvPr/>
        </p:nvSpPr>
        <p:spPr>
          <a:xfrm>
            <a:off x="1572768" y="48280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transparency</a:t>
            </a:r>
            <a:endParaRPr lang="en-US" sz="650" dirty="0"/>
          </a:p>
        </p:txBody>
      </p:sp>
      <p:sp>
        <p:nvSpPr>
          <p:cNvPr id="79" name="Shape 65"/>
          <p:cNvSpPr/>
          <p:nvPr/>
        </p:nvSpPr>
        <p:spPr>
          <a:xfrm>
            <a:off x="2825496" y="47731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0" name="Text 66"/>
          <p:cNvSpPr/>
          <p:nvPr/>
        </p:nvSpPr>
        <p:spPr>
          <a:xfrm>
            <a:off x="2871216" y="48280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Overloaded teams</a:t>
            </a:r>
            <a:endParaRPr lang="en-US" sz="650" dirty="0"/>
          </a:p>
        </p:txBody>
      </p:sp>
      <p:sp>
        <p:nvSpPr>
          <p:cNvPr id="81" name="Shape 67"/>
          <p:cNvSpPr/>
          <p:nvPr/>
        </p:nvSpPr>
        <p:spPr>
          <a:xfrm>
            <a:off x="4123944" y="47731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2" name="Text 68"/>
          <p:cNvSpPr/>
          <p:nvPr/>
        </p:nvSpPr>
        <p:spPr>
          <a:xfrm>
            <a:off x="4169664" y="48280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cases</a:t>
            </a:r>
            <a:endParaRPr lang="en-US" sz="650" dirty="0"/>
          </a:p>
        </p:txBody>
      </p:sp>
      <p:sp>
        <p:nvSpPr>
          <p:cNvPr id="83" name="Shape 69"/>
          <p:cNvSpPr/>
          <p:nvPr/>
        </p:nvSpPr>
        <p:spPr>
          <a:xfrm>
            <a:off x="5422392" y="4773168"/>
            <a:ext cx="1207008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4" name="Text 70"/>
          <p:cNvSpPr/>
          <p:nvPr/>
        </p:nvSpPr>
        <p:spPr>
          <a:xfrm>
            <a:off x="5468112" y="482803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frustration</a:t>
            </a:r>
            <a:endParaRPr lang="en-US" sz="650" dirty="0"/>
          </a:p>
        </p:txBody>
      </p:sp>
      <p:sp>
        <p:nvSpPr>
          <p:cNvPr id="85" name="Shape 71"/>
          <p:cNvSpPr/>
          <p:nvPr/>
        </p:nvSpPr>
        <p:spPr>
          <a:xfrm>
            <a:off x="6949440" y="4261104"/>
            <a:ext cx="498348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72"/>
          <p:cNvSpPr/>
          <p:nvPr/>
        </p:nvSpPr>
        <p:spPr>
          <a:xfrm>
            <a:off x="7086600" y="446227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EXACTLY WHAT JANHELP SOLVES.</a:t>
            </a:r>
            <a:endParaRPr lang="en-US" sz="1600" dirty="0"/>
          </a:p>
        </p:txBody>
      </p:sp>
      <p:sp>
        <p:nvSpPr>
          <p:cNvPr id="87" name="Shape 73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8" name="Text 74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JanHelp converts messy citizen input into a verified, routed and trackable civic work order.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OF 15 - END-TO-END ARCHITECTURE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at the core. Citizen first. Resolution always.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207008"/>
            <a:ext cx="27889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2252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MULTI-CHANNEL INTAKE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6032" y="1536192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70078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1609344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31520" y="1847088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14" name="Shape 11"/>
          <p:cNvSpPr/>
          <p:nvPr/>
        </p:nvSpPr>
        <p:spPr>
          <a:xfrm>
            <a:off x="256032" y="2112264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227685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" y="2185416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chatbot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7315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18" name="Shape 14"/>
          <p:cNvSpPr/>
          <p:nvPr/>
        </p:nvSpPr>
        <p:spPr>
          <a:xfrm>
            <a:off x="256032" y="2688336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760" y="285292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" y="2761488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assistant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731520" y="2999232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22" name="Shape 17"/>
          <p:cNvSpPr/>
          <p:nvPr/>
        </p:nvSpPr>
        <p:spPr>
          <a:xfrm>
            <a:off x="256032" y="3264408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760" y="342900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3337560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portal</a:t>
            </a:r>
            <a:endParaRPr lang="en-US" sz="780" dirty="0"/>
          </a:p>
        </p:txBody>
      </p:sp>
      <p:sp>
        <p:nvSpPr>
          <p:cNvPr id="25" name="Text 19"/>
          <p:cNvSpPr/>
          <p:nvPr/>
        </p:nvSpPr>
        <p:spPr>
          <a:xfrm>
            <a:off x="731520" y="3575304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26" name="Shape 20"/>
          <p:cNvSpPr/>
          <p:nvPr/>
        </p:nvSpPr>
        <p:spPr>
          <a:xfrm>
            <a:off x="256032" y="3840480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5760" y="400507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 or call</a:t>
            </a:r>
            <a:endParaRPr lang="en-US" sz="780" dirty="0"/>
          </a:p>
        </p:txBody>
      </p:sp>
      <p:sp>
        <p:nvSpPr>
          <p:cNvPr id="29" name="Text 22"/>
          <p:cNvSpPr/>
          <p:nvPr/>
        </p:nvSpPr>
        <p:spPr>
          <a:xfrm>
            <a:off x="731520" y="4151376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30" name="Shape 23"/>
          <p:cNvSpPr/>
          <p:nvPr/>
        </p:nvSpPr>
        <p:spPr>
          <a:xfrm>
            <a:off x="256032" y="4416552"/>
            <a:ext cx="2743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5760" y="458114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" y="4489704"/>
            <a:ext cx="2194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bot</a:t>
            </a:r>
            <a:endParaRPr lang="en-US" sz="780" dirty="0"/>
          </a:p>
        </p:txBody>
      </p:sp>
      <p:sp>
        <p:nvSpPr>
          <p:cNvPr id="33" name="Text 25"/>
          <p:cNvSpPr/>
          <p:nvPr/>
        </p:nvSpPr>
        <p:spPr>
          <a:xfrm>
            <a:off x="731520" y="4727448"/>
            <a:ext cx="21945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access path</a:t>
            </a:r>
            <a:endParaRPr lang="en-US" sz="670" dirty="0"/>
          </a:p>
        </p:txBody>
      </p:sp>
      <p:sp>
        <p:nvSpPr>
          <p:cNvPr id="34" name="Shape 26"/>
          <p:cNvSpPr/>
          <p:nvPr/>
        </p:nvSpPr>
        <p:spPr>
          <a:xfrm>
            <a:off x="3246120" y="1207008"/>
            <a:ext cx="43891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282696" y="1225296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JANHELP AI CORE ENGINE</a:t>
            </a:r>
            <a:endParaRPr lang="en-US" sz="820" dirty="0"/>
          </a:p>
        </p:txBody>
      </p:sp>
      <p:sp>
        <p:nvSpPr>
          <p:cNvPr id="36" name="Shape 28"/>
          <p:cNvSpPr/>
          <p:nvPr/>
        </p:nvSpPr>
        <p:spPr>
          <a:xfrm>
            <a:off x="3273552" y="1536192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83280" y="1700784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749040" y="1609344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understanding</a:t>
            </a:r>
            <a:endParaRPr lang="en-US" sz="780" dirty="0"/>
          </a:p>
        </p:txBody>
      </p:sp>
      <p:sp>
        <p:nvSpPr>
          <p:cNvPr id="39" name="Text 30"/>
          <p:cNvSpPr/>
          <p:nvPr/>
        </p:nvSpPr>
        <p:spPr>
          <a:xfrm>
            <a:off x="3749040" y="1847088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40" name="Shape 31"/>
          <p:cNvSpPr/>
          <p:nvPr/>
        </p:nvSpPr>
        <p:spPr>
          <a:xfrm>
            <a:off x="5495544" y="1536192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5272" y="1700784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971032" y="1609344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verification</a:t>
            </a:r>
            <a:endParaRPr lang="en-US" sz="780" dirty="0"/>
          </a:p>
        </p:txBody>
      </p:sp>
      <p:sp>
        <p:nvSpPr>
          <p:cNvPr id="43" name="Text 33"/>
          <p:cNvSpPr/>
          <p:nvPr/>
        </p:nvSpPr>
        <p:spPr>
          <a:xfrm>
            <a:off x="5971032" y="1847088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44" name="Shape 34"/>
          <p:cNvSpPr/>
          <p:nvPr/>
        </p:nvSpPr>
        <p:spPr>
          <a:xfrm>
            <a:off x="3273552" y="2112264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83280" y="2276856"/>
            <a:ext cx="292608" cy="29260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3749040" y="2185416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verification</a:t>
            </a:r>
            <a:endParaRPr lang="en-US" sz="780" dirty="0"/>
          </a:p>
        </p:txBody>
      </p:sp>
      <p:sp>
        <p:nvSpPr>
          <p:cNvPr id="47" name="Text 36"/>
          <p:cNvSpPr/>
          <p:nvPr/>
        </p:nvSpPr>
        <p:spPr>
          <a:xfrm>
            <a:off x="3749040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48" name="Shape 37"/>
          <p:cNvSpPr/>
          <p:nvPr/>
        </p:nvSpPr>
        <p:spPr>
          <a:xfrm>
            <a:off x="5495544" y="2112264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05272" y="2276856"/>
            <a:ext cx="292608" cy="29260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971032" y="2185416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detection</a:t>
            </a:r>
            <a:endParaRPr lang="en-US" sz="780" dirty="0"/>
          </a:p>
        </p:txBody>
      </p:sp>
      <p:sp>
        <p:nvSpPr>
          <p:cNvPr id="51" name="Text 39"/>
          <p:cNvSpPr/>
          <p:nvPr/>
        </p:nvSpPr>
        <p:spPr>
          <a:xfrm>
            <a:off x="5971032" y="2423160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52" name="Shape 40"/>
          <p:cNvSpPr/>
          <p:nvPr/>
        </p:nvSpPr>
        <p:spPr>
          <a:xfrm>
            <a:off x="3273552" y="2688336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83280" y="2852928"/>
            <a:ext cx="292608" cy="29260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3749040" y="2761488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detection</a:t>
            </a:r>
            <a:endParaRPr lang="en-US" sz="780" dirty="0"/>
          </a:p>
        </p:txBody>
      </p:sp>
      <p:sp>
        <p:nvSpPr>
          <p:cNvPr id="55" name="Text 42"/>
          <p:cNvSpPr/>
          <p:nvPr/>
        </p:nvSpPr>
        <p:spPr>
          <a:xfrm>
            <a:off x="3749040" y="2999232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56" name="Shape 43"/>
          <p:cNvSpPr/>
          <p:nvPr/>
        </p:nvSpPr>
        <p:spPr>
          <a:xfrm>
            <a:off x="5495544" y="2688336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05272" y="2852928"/>
            <a:ext cx="292608" cy="292608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971032" y="2761488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prediction</a:t>
            </a:r>
            <a:endParaRPr lang="en-US" sz="780" dirty="0"/>
          </a:p>
        </p:txBody>
      </p:sp>
      <p:sp>
        <p:nvSpPr>
          <p:cNvPr id="59" name="Text 45"/>
          <p:cNvSpPr/>
          <p:nvPr/>
        </p:nvSpPr>
        <p:spPr>
          <a:xfrm>
            <a:off x="5971032" y="2999232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60" name="Shape 46"/>
          <p:cNvSpPr/>
          <p:nvPr/>
        </p:nvSpPr>
        <p:spPr>
          <a:xfrm>
            <a:off x="3273552" y="3264408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383280" y="3429000"/>
            <a:ext cx="292608" cy="29260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3749040" y="3337560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validation</a:t>
            </a:r>
            <a:endParaRPr lang="en-US" sz="780" dirty="0"/>
          </a:p>
        </p:txBody>
      </p:sp>
      <p:sp>
        <p:nvSpPr>
          <p:cNvPr id="63" name="Text 48"/>
          <p:cNvSpPr/>
          <p:nvPr/>
        </p:nvSpPr>
        <p:spPr>
          <a:xfrm>
            <a:off x="3749040" y="3575304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64" name="Shape 49"/>
          <p:cNvSpPr/>
          <p:nvPr/>
        </p:nvSpPr>
        <p:spPr>
          <a:xfrm>
            <a:off x="5495544" y="3264408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605272" y="3429000"/>
            <a:ext cx="292608" cy="292608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5971032" y="3337560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routing</a:t>
            </a:r>
            <a:endParaRPr lang="en-US" sz="780" dirty="0"/>
          </a:p>
        </p:txBody>
      </p:sp>
      <p:sp>
        <p:nvSpPr>
          <p:cNvPr id="67" name="Text 51"/>
          <p:cNvSpPr/>
          <p:nvPr/>
        </p:nvSpPr>
        <p:spPr>
          <a:xfrm>
            <a:off x="5971032" y="3575304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68" name="Shape 52"/>
          <p:cNvSpPr/>
          <p:nvPr/>
        </p:nvSpPr>
        <p:spPr>
          <a:xfrm>
            <a:off x="3273552" y="3840480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383280" y="4005072"/>
            <a:ext cx="292608" cy="292608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3749040" y="3913632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prediction</a:t>
            </a:r>
            <a:endParaRPr lang="en-US" sz="780" dirty="0"/>
          </a:p>
        </p:txBody>
      </p:sp>
      <p:sp>
        <p:nvSpPr>
          <p:cNvPr id="71" name="Text 54"/>
          <p:cNvSpPr/>
          <p:nvPr/>
        </p:nvSpPr>
        <p:spPr>
          <a:xfrm>
            <a:off x="3749040" y="4151376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72" name="Shape 55"/>
          <p:cNvSpPr/>
          <p:nvPr/>
        </p:nvSpPr>
        <p:spPr>
          <a:xfrm>
            <a:off x="5495544" y="3840480"/>
            <a:ext cx="21488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05272" y="4005072"/>
            <a:ext cx="292608" cy="292608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5971032" y="3913632"/>
            <a:ext cx="1600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validation</a:t>
            </a:r>
            <a:endParaRPr lang="en-US" sz="780" dirty="0"/>
          </a:p>
        </p:txBody>
      </p:sp>
      <p:sp>
        <p:nvSpPr>
          <p:cNvPr id="75" name="Text 57"/>
          <p:cNvSpPr/>
          <p:nvPr/>
        </p:nvSpPr>
        <p:spPr>
          <a:xfrm>
            <a:off x="5971032" y="4151376"/>
            <a:ext cx="1600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AI decision</a:t>
            </a:r>
            <a:endParaRPr lang="en-US" sz="670" dirty="0"/>
          </a:p>
        </p:txBody>
      </p:sp>
      <p:sp>
        <p:nvSpPr>
          <p:cNvPr id="76" name="Shape 58"/>
          <p:cNvSpPr/>
          <p:nvPr/>
        </p:nvSpPr>
        <p:spPr>
          <a:xfrm>
            <a:off x="7882128" y="1207008"/>
            <a:ext cx="40690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59"/>
          <p:cNvSpPr/>
          <p:nvPr/>
        </p:nvSpPr>
        <p:spPr>
          <a:xfrm>
            <a:off x="7918704" y="1225296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CITY OPERATIONS</a:t>
            </a:r>
            <a:endParaRPr lang="en-US" sz="820" dirty="0"/>
          </a:p>
        </p:txBody>
      </p:sp>
      <p:sp>
        <p:nvSpPr>
          <p:cNvPr id="78" name="Shape 60"/>
          <p:cNvSpPr/>
          <p:nvPr/>
        </p:nvSpPr>
        <p:spPr>
          <a:xfrm>
            <a:off x="7909560" y="1536192"/>
            <a:ext cx="3977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7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19288" y="1700784"/>
            <a:ext cx="292608" cy="292608"/>
          </a:xfrm>
          <a:prstGeom prst="rect">
            <a:avLst/>
          </a:prstGeom>
        </p:spPr>
      </p:pic>
      <p:sp>
        <p:nvSpPr>
          <p:cNvPr id="80" name="Text 61"/>
          <p:cNvSpPr/>
          <p:nvPr/>
        </p:nvSpPr>
        <p:spPr>
          <a:xfrm>
            <a:off x="8385048" y="1609344"/>
            <a:ext cx="3429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routing</a:t>
            </a:r>
            <a:endParaRPr lang="en-US" sz="780" dirty="0"/>
          </a:p>
        </p:txBody>
      </p:sp>
      <p:sp>
        <p:nvSpPr>
          <p:cNvPr id="81" name="Text 62"/>
          <p:cNvSpPr/>
          <p:nvPr/>
        </p:nvSpPr>
        <p:spPr>
          <a:xfrm>
            <a:off x="8385048" y="1847088"/>
            <a:ext cx="3429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nearest matching department</a:t>
            </a:r>
            <a:endParaRPr lang="en-US" sz="670" dirty="0"/>
          </a:p>
        </p:txBody>
      </p:sp>
      <p:sp>
        <p:nvSpPr>
          <p:cNvPr id="82" name="Shape 63"/>
          <p:cNvSpPr/>
          <p:nvPr/>
        </p:nvSpPr>
        <p:spPr>
          <a:xfrm>
            <a:off x="7909560" y="2194560"/>
            <a:ext cx="3977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83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019288" y="2359152"/>
            <a:ext cx="292608" cy="292608"/>
          </a:xfrm>
          <a:prstGeom prst="rect">
            <a:avLst/>
          </a:prstGeom>
        </p:spPr>
      </p:pic>
      <p:sp>
        <p:nvSpPr>
          <p:cNvPr id="84" name="Text 64"/>
          <p:cNvSpPr/>
          <p:nvPr/>
        </p:nvSpPr>
        <p:spPr>
          <a:xfrm>
            <a:off x="8385048" y="2267712"/>
            <a:ext cx="3429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order</a:t>
            </a:r>
            <a:endParaRPr lang="en-US" sz="780" dirty="0"/>
          </a:p>
        </p:txBody>
      </p:sp>
      <p:sp>
        <p:nvSpPr>
          <p:cNvPr id="85" name="Text 65"/>
          <p:cNvSpPr/>
          <p:nvPr/>
        </p:nvSpPr>
        <p:spPr>
          <a:xfrm>
            <a:off x="8385048" y="2505456"/>
            <a:ext cx="3429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actionable department task</a:t>
            </a:r>
            <a:endParaRPr lang="en-US" sz="670" dirty="0"/>
          </a:p>
        </p:txBody>
      </p:sp>
      <p:sp>
        <p:nvSpPr>
          <p:cNvPr id="86" name="Shape 66"/>
          <p:cNvSpPr/>
          <p:nvPr/>
        </p:nvSpPr>
        <p:spPr>
          <a:xfrm>
            <a:off x="7909560" y="2852928"/>
            <a:ext cx="3977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87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019288" y="3017520"/>
            <a:ext cx="292608" cy="292608"/>
          </a:xfrm>
          <a:prstGeom prst="rect">
            <a:avLst/>
          </a:prstGeom>
        </p:spPr>
      </p:pic>
      <p:sp>
        <p:nvSpPr>
          <p:cNvPr id="88" name="Text 67"/>
          <p:cNvSpPr/>
          <p:nvPr/>
        </p:nvSpPr>
        <p:spPr>
          <a:xfrm>
            <a:off x="8385048" y="2926080"/>
            <a:ext cx="3429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780" dirty="0"/>
          </a:p>
        </p:txBody>
      </p:sp>
      <p:sp>
        <p:nvSpPr>
          <p:cNvPr id="89" name="Text 68"/>
          <p:cNvSpPr/>
          <p:nvPr/>
        </p:nvSpPr>
        <p:spPr>
          <a:xfrm>
            <a:off x="8385048" y="3163824"/>
            <a:ext cx="3429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department and citizen</a:t>
            </a:r>
            <a:endParaRPr lang="en-US" sz="670" dirty="0"/>
          </a:p>
        </p:txBody>
      </p:sp>
      <p:sp>
        <p:nvSpPr>
          <p:cNvPr id="90" name="Shape 69"/>
          <p:cNvSpPr/>
          <p:nvPr/>
        </p:nvSpPr>
        <p:spPr>
          <a:xfrm>
            <a:off x="7909560" y="3511296"/>
            <a:ext cx="3977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9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019288" y="3675888"/>
            <a:ext cx="292608" cy="292608"/>
          </a:xfrm>
          <a:prstGeom prst="rect">
            <a:avLst/>
          </a:prstGeom>
        </p:spPr>
      </p:pic>
      <p:sp>
        <p:nvSpPr>
          <p:cNvPr id="92" name="Text 70"/>
          <p:cNvSpPr/>
          <p:nvPr/>
        </p:nvSpPr>
        <p:spPr>
          <a:xfrm>
            <a:off x="8385048" y="3584448"/>
            <a:ext cx="3429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execution</a:t>
            </a:r>
            <a:endParaRPr lang="en-US" sz="780" dirty="0"/>
          </a:p>
        </p:txBody>
      </p:sp>
      <p:sp>
        <p:nvSpPr>
          <p:cNvPr id="93" name="Text 71"/>
          <p:cNvSpPr/>
          <p:nvPr/>
        </p:nvSpPr>
        <p:spPr>
          <a:xfrm>
            <a:off x="8385048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work and proof</a:t>
            </a:r>
            <a:endParaRPr lang="en-US" sz="670" dirty="0"/>
          </a:p>
        </p:txBody>
      </p:sp>
      <p:sp>
        <p:nvSpPr>
          <p:cNvPr id="94" name="Shape 72"/>
          <p:cNvSpPr/>
          <p:nvPr/>
        </p:nvSpPr>
        <p:spPr>
          <a:xfrm>
            <a:off x="7909560" y="4169664"/>
            <a:ext cx="3977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95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019288" y="4334256"/>
            <a:ext cx="292608" cy="292608"/>
          </a:xfrm>
          <a:prstGeom prst="rect">
            <a:avLst/>
          </a:prstGeom>
        </p:spPr>
      </p:pic>
      <p:sp>
        <p:nvSpPr>
          <p:cNvPr id="96" name="Text 73"/>
          <p:cNvSpPr/>
          <p:nvPr/>
        </p:nvSpPr>
        <p:spPr>
          <a:xfrm>
            <a:off x="8385048" y="4242816"/>
            <a:ext cx="3429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780" dirty="0"/>
          </a:p>
        </p:txBody>
      </p:sp>
      <p:sp>
        <p:nvSpPr>
          <p:cNvPr id="97" name="Text 74"/>
          <p:cNvSpPr/>
          <p:nvPr/>
        </p:nvSpPr>
        <p:spPr>
          <a:xfrm>
            <a:off x="8385048" y="4480560"/>
            <a:ext cx="3429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Reports, heatmaps and SLA</a:t>
            </a:r>
            <a:endParaRPr lang="en-US" sz="670" dirty="0"/>
          </a:p>
        </p:txBody>
      </p:sp>
      <p:sp>
        <p:nvSpPr>
          <p:cNvPr id="98" name="Shape 75"/>
          <p:cNvSpPr/>
          <p:nvPr/>
        </p:nvSpPr>
        <p:spPr>
          <a:xfrm>
            <a:off x="228600" y="5193792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9" name="Text 76"/>
          <p:cNvSpPr/>
          <p:nvPr/>
        </p:nvSpPr>
        <p:spPr>
          <a:xfrm>
            <a:off x="265176" y="5212080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TO ACCOUNTABILITY</a:t>
            </a:r>
            <a:endParaRPr lang="en-US" sz="820" dirty="0"/>
          </a:p>
        </p:txBody>
      </p:sp>
      <p:sp>
        <p:nvSpPr>
          <p:cNvPr id="100" name="Shape 77"/>
          <p:cNvSpPr/>
          <p:nvPr/>
        </p:nvSpPr>
        <p:spPr>
          <a:xfrm>
            <a:off x="320040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1" name="Text 78"/>
          <p:cNvSpPr/>
          <p:nvPr/>
        </p:nvSpPr>
        <p:spPr>
          <a:xfrm>
            <a:off x="356616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Registered</a:t>
            </a:r>
            <a:endParaRPr lang="en-US" sz="720" dirty="0"/>
          </a:p>
        </p:txBody>
      </p:sp>
      <p:sp>
        <p:nvSpPr>
          <p:cNvPr id="102" name="Shape 79"/>
          <p:cNvSpPr/>
          <p:nvPr/>
        </p:nvSpPr>
        <p:spPr>
          <a:xfrm>
            <a:off x="1737360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03" name="Shape 80"/>
          <p:cNvSpPr/>
          <p:nvPr/>
        </p:nvSpPr>
        <p:spPr>
          <a:xfrm>
            <a:off x="1984248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4" name="Text 81"/>
          <p:cNvSpPr/>
          <p:nvPr/>
        </p:nvSpPr>
        <p:spPr>
          <a:xfrm>
            <a:off x="2020824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verified</a:t>
            </a:r>
            <a:endParaRPr lang="en-US" sz="720" dirty="0"/>
          </a:p>
        </p:txBody>
      </p:sp>
      <p:sp>
        <p:nvSpPr>
          <p:cNvPr id="105" name="Shape 82"/>
          <p:cNvSpPr/>
          <p:nvPr/>
        </p:nvSpPr>
        <p:spPr>
          <a:xfrm>
            <a:off x="3401568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06" name="Shape 83"/>
          <p:cNvSpPr/>
          <p:nvPr/>
        </p:nvSpPr>
        <p:spPr>
          <a:xfrm>
            <a:off x="3648456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7" name="Text 84"/>
          <p:cNvSpPr/>
          <p:nvPr/>
        </p:nvSpPr>
        <p:spPr>
          <a:xfrm>
            <a:off x="3685032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720" dirty="0"/>
          </a:p>
        </p:txBody>
      </p:sp>
      <p:sp>
        <p:nvSpPr>
          <p:cNvPr id="108" name="Shape 85"/>
          <p:cNvSpPr/>
          <p:nvPr/>
        </p:nvSpPr>
        <p:spPr>
          <a:xfrm>
            <a:off x="5065776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09" name="Shape 86"/>
          <p:cNvSpPr/>
          <p:nvPr/>
        </p:nvSpPr>
        <p:spPr>
          <a:xfrm>
            <a:off x="5312664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0" name="Text 87"/>
          <p:cNvSpPr/>
          <p:nvPr/>
        </p:nvSpPr>
        <p:spPr>
          <a:xfrm>
            <a:off x="5349240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20" dirty="0"/>
          </a:p>
        </p:txBody>
      </p:sp>
      <p:sp>
        <p:nvSpPr>
          <p:cNvPr id="111" name="Shape 88"/>
          <p:cNvSpPr/>
          <p:nvPr/>
        </p:nvSpPr>
        <p:spPr>
          <a:xfrm>
            <a:off x="6729984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12" name="Shape 89"/>
          <p:cNvSpPr/>
          <p:nvPr/>
        </p:nvSpPr>
        <p:spPr>
          <a:xfrm>
            <a:off x="6976872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3" name="Text 90"/>
          <p:cNvSpPr/>
          <p:nvPr/>
        </p:nvSpPr>
        <p:spPr>
          <a:xfrm>
            <a:off x="7013448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proof</a:t>
            </a:r>
            <a:endParaRPr lang="en-US" sz="720" dirty="0"/>
          </a:p>
        </p:txBody>
      </p:sp>
      <p:sp>
        <p:nvSpPr>
          <p:cNvPr id="114" name="Shape 91"/>
          <p:cNvSpPr/>
          <p:nvPr/>
        </p:nvSpPr>
        <p:spPr>
          <a:xfrm>
            <a:off x="8394192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15" name="Shape 92"/>
          <p:cNvSpPr/>
          <p:nvPr/>
        </p:nvSpPr>
        <p:spPr>
          <a:xfrm>
            <a:off x="8641080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6" name="Text 93"/>
          <p:cNvSpPr/>
          <p:nvPr/>
        </p:nvSpPr>
        <p:spPr>
          <a:xfrm>
            <a:off x="8677656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rating</a:t>
            </a:r>
            <a:endParaRPr lang="en-US" sz="720" dirty="0"/>
          </a:p>
        </p:txBody>
      </p:sp>
      <p:sp>
        <p:nvSpPr>
          <p:cNvPr id="117" name="Shape 94"/>
          <p:cNvSpPr/>
          <p:nvPr/>
        </p:nvSpPr>
        <p:spPr>
          <a:xfrm>
            <a:off x="10058400" y="5769864"/>
            <a:ext cx="137160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18" name="Shape 95"/>
          <p:cNvSpPr/>
          <p:nvPr/>
        </p:nvSpPr>
        <p:spPr>
          <a:xfrm>
            <a:off x="10305288" y="5532120"/>
            <a:ext cx="1417320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19" name="Text 96"/>
          <p:cNvSpPr/>
          <p:nvPr/>
        </p:nvSpPr>
        <p:spPr>
          <a:xfrm>
            <a:off x="10341864" y="56052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if needed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OF 15 - VERIFIED AND ACCOUNTABLE WORKFLOW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citizen report to ground action in a structured way.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31089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8872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COMPLAINT CREATION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3035808" cy="199339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912" y="1691640"/>
            <a:ext cx="502920" cy="50292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" y="1677924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164592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and address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1979676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194767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and subcategory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7280" y="2281428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2249424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or video proof</a:t>
            </a:r>
            <a:endParaRPr lang="en-US" sz="76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280" y="2583180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1872" y="255117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76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7280" y="2884932"/>
            <a:ext cx="118872" cy="1188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61872" y="285292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Reporter details</a:t>
            </a:r>
            <a:endParaRPr lang="en-US" sz="760" dirty="0"/>
          </a:p>
        </p:txBody>
      </p:sp>
      <p:sp>
        <p:nvSpPr>
          <p:cNvPr id="22" name="Shape 14"/>
          <p:cNvSpPr/>
          <p:nvPr/>
        </p:nvSpPr>
        <p:spPr>
          <a:xfrm>
            <a:off x="3520440" y="1170432"/>
            <a:ext cx="48006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57016" y="118872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AI VERIFICATION LAYER</a:t>
            </a:r>
            <a:endParaRPr lang="en-US" sz="820" dirty="0"/>
          </a:p>
        </p:txBody>
      </p:sp>
      <p:sp>
        <p:nvSpPr>
          <p:cNvPr id="24" name="Shape 16"/>
          <p:cNvSpPr/>
          <p:nvPr/>
        </p:nvSpPr>
        <p:spPr>
          <a:xfrm>
            <a:off x="3547872" y="1481328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57600" y="164592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023360" y="1554480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quality</a:t>
            </a:r>
            <a:endParaRPr lang="en-US" sz="780" dirty="0"/>
          </a:p>
        </p:txBody>
      </p:sp>
      <p:sp>
        <p:nvSpPr>
          <p:cNvPr id="27" name="Text 18"/>
          <p:cNvSpPr/>
          <p:nvPr/>
        </p:nvSpPr>
        <p:spPr>
          <a:xfrm>
            <a:off x="4023360" y="1792224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 dark, blank or weak images</a:t>
            </a:r>
            <a:endParaRPr lang="en-US" sz="670" dirty="0"/>
          </a:p>
        </p:txBody>
      </p:sp>
      <p:sp>
        <p:nvSpPr>
          <p:cNvPr id="28" name="Shape 19"/>
          <p:cNvSpPr/>
          <p:nvPr/>
        </p:nvSpPr>
        <p:spPr>
          <a:xfrm>
            <a:off x="5907024" y="1481328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16752" y="1645920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82512" y="1554480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proof</a:t>
            </a:r>
            <a:endParaRPr lang="en-US" sz="780" dirty="0"/>
          </a:p>
        </p:txBody>
      </p:sp>
      <p:sp>
        <p:nvSpPr>
          <p:cNvPr id="31" name="Text 21"/>
          <p:cNvSpPr/>
          <p:nvPr/>
        </p:nvSpPr>
        <p:spPr>
          <a:xfrm>
            <a:off x="6382512" y="1792224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evidence to issue</a:t>
            </a:r>
            <a:endParaRPr lang="en-US" sz="670" dirty="0"/>
          </a:p>
        </p:txBody>
      </p:sp>
      <p:sp>
        <p:nvSpPr>
          <p:cNvPr id="32" name="Shape 22"/>
          <p:cNvSpPr/>
          <p:nvPr/>
        </p:nvSpPr>
        <p:spPr>
          <a:xfrm>
            <a:off x="3547872" y="2194560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57600" y="2359152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023360" y="2267712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check</a:t>
            </a:r>
            <a:endParaRPr lang="en-US" sz="780" dirty="0"/>
          </a:p>
        </p:txBody>
      </p:sp>
      <p:sp>
        <p:nvSpPr>
          <p:cNvPr id="35" name="Text 24"/>
          <p:cNvSpPr/>
          <p:nvPr/>
        </p:nvSpPr>
        <p:spPr>
          <a:xfrm>
            <a:off x="4023360" y="2505456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repeated tickets</a:t>
            </a:r>
            <a:endParaRPr lang="en-US" sz="670" dirty="0"/>
          </a:p>
        </p:txBody>
      </p:sp>
      <p:sp>
        <p:nvSpPr>
          <p:cNvPr id="36" name="Shape 25"/>
          <p:cNvSpPr/>
          <p:nvPr/>
        </p:nvSpPr>
        <p:spPr>
          <a:xfrm>
            <a:off x="5907024" y="2194560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6752" y="2359152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382512" y="2267712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 signals</a:t>
            </a:r>
            <a:endParaRPr lang="en-US" sz="780" dirty="0"/>
          </a:p>
        </p:txBody>
      </p:sp>
      <p:sp>
        <p:nvSpPr>
          <p:cNvPr id="39" name="Text 27"/>
          <p:cNvSpPr/>
          <p:nvPr/>
        </p:nvSpPr>
        <p:spPr>
          <a:xfrm>
            <a:off x="6382512" y="2505456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 suspicious reports</a:t>
            </a:r>
            <a:endParaRPr lang="en-US" sz="670" dirty="0"/>
          </a:p>
        </p:txBody>
      </p:sp>
      <p:sp>
        <p:nvSpPr>
          <p:cNvPr id="40" name="Shape 28"/>
          <p:cNvSpPr/>
          <p:nvPr/>
        </p:nvSpPr>
        <p:spPr>
          <a:xfrm>
            <a:off x="3547872" y="2907792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57600" y="3072384"/>
            <a:ext cx="292608" cy="29260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4023360" y="2980944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</a:t>
            </a:r>
            <a:endParaRPr lang="en-US" sz="780" dirty="0"/>
          </a:p>
        </p:txBody>
      </p:sp>
      <p:sp>
        <p:nvSpPr>
          <p:cNvPr id="43" name="Text 30"/>
          <p:cNvSpPr/>
          <p:nvPr/>
        </p:nvSpPr>
        <p:spPr>
          <a:xfrm>
            <a:off x="4023360" y="3218688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urgency and risk</a:t>
            </a:r>
            <a:endParaRPr lang="en-US" sz="670" dirty="0"/>
          </a:p>
        </p:txBody>
      </p:sp>
      <p:sp>
        <p:nvSpPr>
          <p:cNvPr id="44" name="Shape 31"/>
          <p:cNvSpPr/>
          <p:nvPr/>
        </p:nvSpPr>
        <p:spPr>
          <a:xfrm>
            <a:off x="5907024" y="2907792"/>
            <a:ext cx="2249424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16752" y="3072384"/>
            <a:ext cx="292608" cy="29260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6382512" y="2980944"/>
            <a:ext cx="170078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estimate</a:t>
            </a:r>
            <a:endParaRPr lang="en-US" sz="780" dirty="0"/>
          </a:p>
        </p:txBody>
      </p:sp>
      <p:sp>
        <p:nvSpPr>
          <p:cNvPr id="47" name="Text 33"/>
          <p:cNvSpPr/>
          <p:nvPr/>
        </p:nvSpPr>
        <p:spPr>
          <a:xfrm>
            <a:off x="6382512" y="3218688"/>
            <a:ext cx="1700784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resolution timing</a:t>
            </a:r>
            <a:endParaRPr lang="en-US" sz="670" dirty="0"/>
          </a:p>
        </p:txBody>
      </p:sp>
      <p:sp>
        <p:nvSpPr>
          <p:cNvPr id="48" name="Shape 34"/>
          <p:cNvSpPr/>
          <p:nvPr/>
        </p:nvSpPr>
        <p:spPr>
          <a:xfrm>
            <a:off x="8549640" y="1170432"/>
            <a:ext cx="34290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8586216" y="1188720"/>
            <a:ext cx="3355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ROUTING AND ASSIGNMENT</a:t>
            </a:r>
            <a:endParaRPr lang="en-US" sz="820" dirty="0"/>
          </a:p>
        </p:txBody>
      </p:sp>
      <p:sp>
        <p:nvSpPr>
          <p:cNvPr id="50" name="Shape 36"/>
          <p:cNvSpPr/>
          <p:nvPr/>
        </p:nvSpPr>
        <p:spPr>
          <a:xfrm>
            <a:off x="8577072" y="1481328"/>
            <a:ext cx="3364992" cy="23317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796528" y="1737360"/>
            <a:ext cx="512064" cy="512064"/>
          </a:xfrm>
          <a:prstGeom prst="rect">
            <a:avLst/>
          </a:prstGeom>
        </p:spPr>
      </p:pic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464040" y="1732788"/>
            <a:ext cx="118872" cy="118872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9628632" y="17007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nearest department</a:t>
            </a:r>
            <a:endParaRPr lang="en-US" sz="760" dirty="0"/>
          </a:p>
        </p:txBody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464040" y="2052828"/>
            <a:ext cx="118872" cy="118872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9628632" y="202082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active departments</a:t>
            </a:r>
            <a:endParaRPr lang="en-US" sz="760" dirty="0"/>
          </a:p>
        </p:txBody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464040" y="2372868"/>
            <a:ext cx="118872" cy="118872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9628632" y="234086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priority and SLA</a:t>
            </a:r>
            <a:endParaRPr lang="en-US" sz="76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464040" y="2692908"/>
            <a:ext cx="118872" cy="118872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9628632" y="26609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work order</a:t>
            </a:r>
            <a:endParaRPr lang="en-US" sz="76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464040" y="3012948"/>
            <a:ext cx="118872" cy="118872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9628632" y="29809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department</a:t>
            </a:r>
            <a:endParaRPr lang="en-US" sz="760" dirty="0"/>
          </a:p>
        </p:txBody>
      </p:sp>
      <p:sp>
        <p:nvSpPr>
          <p:cNvPr id="62" name="Shape 42"/>
          <p:cNvSpPr/>
          <p:nvPr/>
        </p:nvSpPr>
        <p:spPr>
          <a:xfrm>
            <a:off x="228600" y="416052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43"/>
          <p:cNvSpPr/>
          <p:nvPr/>
        </p:nvSpPr>
        <p:spPr>
          <a:xfrm>
            <a:off x="265176" y="417880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ACTION, PROOF AND REOPEN</a:t>
            </a:r>
            <a:endParaRPr lang="en-US" sz="820" dirty="0"/>
          </a:p>
        </p:txBody>
      </p:sp>
      <p:sp>
        <p:nvSpPr>
          <p:cNvPr id="64" name="Shape 44"/>
          <p:cNvSpPr/>
          <p:nvPr/>
        </p:nvSpPr>
        <p:spPr>
          <a:xfrm>
            <a:off x="320040" y="4526280"/>
            <a:ext cx="19659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48056" y="4681728"/>
            <a:ext cx="329184" cy="329184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868680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queue</a:t>
            </a:r>
            <a:endParaRPr lang="en-US" sz="850" dirty="0"/>
          </a:p>
        </p:txBody>
      </p:sp>
      <p:sp>
        <p:nvSpPr>
          <p:cNvPr id="67" name="Text 46"/>
          <p:cNvSpPr/>
          <p:nvPr/>
        </p:nvSpPr>
        <p:spPr>
          <a:xfrm>
            <a:off x="868680" y="4882896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same complaint lifecycle.</a:t>
            </a:r>
            <a:endParaRPr lang="en-US" sz="690" dirty="0"/>
          </a:p>
        </p:txBody>
      </p:sp>
      <p:sp>
        <p:nvSpPr>
          <p:cNvPr id="68" name="Shape 47"/>
          <p:cNvSpPr/>
          <p:nvPr/>
        </p:nvSpPr>
        <p:spPr>
          <a:xfrm>
            <a:off x="2286000" y="4892040"/>
            <a:ext cx="219456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69" name="Shape 48"/>
          <p:cNvSpPr/>
          <p:nvPr/>
        </p:nvSpPr>
        <p:spPr>
          <a:xfrm>
            <a:off x="2606040" y="4526280"/>
            <a:ext cx="19659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70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734056" y="4681728"/>
            <a:ext cx="329184" cy="329184"/>
          </a:xfrm>
          <a:prstGeom prst="rect">
            <a:avLst/>
          </a:prstGeom>
        </p:spPr>
      </p:pic>
      <p:sp>
        <p:nvSpPr>
          <p:cNvPr id="71" name="Text 49"/>
          <p:cNvSpPr/>
          <p:nvPr/>
        </p:nvSpPr>
        <p:spPr>
          <a:xfrm>
            <a:off x="3154680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action</a:t>
            </a:r>
            <a:endParaRPr lang="en-US" sz="850" dirty="0"/>
          </a:p>
        </p:txBody>
      </p:sp>
      <p:sp>
        <p:nvSpPr>
          <p:cNvPr id="72" name="Text 50"/>
          <p:cNvSpPr/>
          <p:nvPr/>
        </p:nvSpPr>
        <p:spPr>
          <a:xfrm>
            <a:off x="3154680" y="4882896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same complaint lifecycle.</a:t>
            </a:r>
            <a:endParaRPr lang="en-US" sz="690" dirty="0"/>
          </a:p>
        </p:txBody>
      </p:sp>
      <p:sp>
        <p:nvSpPr>
          <p:cNvPr id="73" name="Shape 51"/>
          <p:cNvSpPr/>
          <p:nvPr/>
        </p:nvSpPr>
        <p:spPr>
          <a:xfrm>
            <a:off x="4572000" y="4892040"/>
            <a:ext cx="219456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74" name="Shape 52"/>
          <p:cNvSpPr/>
          <p:nvPr/>
        </p:nvSpPr>
        <p:spPr>
          <a:xfrm>
            <a:off x="4892040" y="4526280"/>
            <a:ext cx="19659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75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020056" y="4681728"/>
            <a:ext cx="329184" cy="329184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5440680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proof</a:t>
            </a:r>
            <a:endParaRPr lang="en-US" sz="850" dirty="0"/>
          </a:p>
        </p:txBody>
      </p:sp>
      <p:sp>
        <p:nvSpPr>
          <p:cNvPr id="77" name="Text 54"/>
          <p:cNvSpPr/>
          <p:nvPr/>
        </p:nvSpPr>
        <p:spPr>
          <a:xfrm>
            <a:off x="5440680" y="4882896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same complaint lifecycle.</a:t>
            </a:r>
            <a:endParaRPr lang="en-US" sz="690" dirty="0"/>
          </a:p>
        </p:txBody>
      </p:sp>
      <p:sp>
        <p:nvSpPr>
          <p:cNvPr id="78" name="Shape 55"/>
          <p:cNvSpPr/>
          <p:nvPr/>
        </p:nvSpPr>
        <p:spPr>
          <a:xfrm>
            <a:off x="6858000" y="4892040"/>
            <a:ext cx="219456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79" name="Shape 56"/>
          <p:cNvSpPr/>
          <p:nvPr/>
        </p:nvSpPr>
        <p:spPr>
          <a:xfrm>
            <a:off x="7178040" y="4526280"/>
            <a:ext cx="19659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80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306056" y="4681728"/>
            <a:ext cx="329184" cy="329184"/>
          </a:xfrm>
          <a:prstGeom prst="rect">
            <a:avLst/>
          </a:prstGeom>
        </p:spPr>
      </p:pic>
      <p:sp>
        <p:nvSpPr>
          <p:cNvPr id="81" name="Text 57"/>
          <p:cNvSpPr/>
          <p:nvPr/>
        </p:nvSpPr>
        <p:spPr>
          <a:xfrm>
            <a:off x="7726680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rating</a:t>
            </a:r>
            <a:endParaRPr lang="en-US" sz="850" dirty="0"/>
          </a:p>
        </p:txBody>
      </p:sp>
      <p:sp>
        <p:nvSpPr>
          <p:cNvPr id="82" name="Text 58"/>
          <p:cNvSpPr/>
          <p:nvPr/>
        </p:nvSpPr>
        <p:spPr>
          <a:xfrm>
            <a:off x="7726680" y="4882896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same complaint lifecycle.</a:t>
            </a:r>
            <a:endParaRPr lang="en-US" sz="690" dirty="0"/>
          </a:p>
        </p:txBody>
      </p:sp>
      <p:sp>
        <p:nvSpPr>
          <p:cNvPr id="83" name="Shape 59"/>
          <p:cNvSpPr/>
          <p:nvPr/>
        </p:nvSpPr>
        <p:spPr>
          <a:xfrm>
            <a:off x="9144000" y="4892040"/>
            <a:ext cx="219456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84" name="Shape 60"/>
          <p:cNvSpPr/>
          <p:nvPr/>
        </p:nvSpPr>
        <p:spPr>
          <a:xfrm>
            <a:off x="9464040" y="4526280"/>
            <a:ext cx="196596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85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592056" y="4681728"/>
            <a:ext cx="329184" cy="329184"/>
          </a:xfrm>
          <a:prstGeom prst="rect">
            <a:avLst/>
          </a:prstGeom>
        </p:spPr>
      </p:pic>
      <p:sp>
        <p:nvSpPr>
          <p:cNvPr id="86" name="Text 61"/>
          <p:cNvSpPr/>
          <p:nvPr/>
        </p:nvSpPr>
        <p:spPr>
          <a:xfrm>
            <a:off x="10012680" y="4617720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if not fixed</a:t>
            </a:r>
            <a:endParaRPr lang="en-US" sz="850" dirty="0"/>
          </a:p>
        </p:txBody>
      </p:sp>
      <p:sp>
        <p:nvSpPr>
          <p:cNvPr id="87" name="Text 62"/>
          <p:cNvSpPr/>
          <p:nvPr/>
        </p:nvSpPr>
        <p:spPr>
          <a:xfrm>
            <a:off x="10012680" y="4882896"/>
            <a:ext cx="13258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 the same complaint lifecycle.</a:t>
            </a:r>
            <a:endParaRPr lang="en-US" sz="690" dirty="0"/>
          </a:p>
        </p:txBody>
      </p:sp>
      <p:sp>
        <p:nvSpPr>
          <p:cNvPr id="88" name="Shape 63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9" name="Text 64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filters noise. Departments get actionable work. Citizens get transparent accountability.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OF 15 - MULTI-CHANNEL COMPLAINT INTAKE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your issue, your way.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" y="162763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APP INPUT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39319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form, GPS, proof and contact.</a:t>
            </a:r>
            <a:endParaRPr lang="en-US" sz="73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64" y="3433572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64" y="3671316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064" y="3909060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665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18" name="Shape 12"/>
          <p:cNvSpPr/>
          <p:nvPr/>
        </p:nvSpPr>
        <p:spPr>
          <a:xfrm>
            <a:off x="512064" y="4224528"/>
            <a:ext cx="13258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1206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680" dirty="0"/>
          </a:p>
        </p:txBody>
      </p:sp>
      <p:sp>
        <p:nvSpPr>
          <p:cNvPr id="20" name="Shape 14"/>
          <p:cNvSpPr/>
          <p:nvPr/>
        </p:nvSpPr>
        <p:spPr>
          <a:xfrm>
            <a:off x="222199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16936" y="1627632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1343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CHAT ASSISTANT</a:t>
            </a:r>
            <a:endParaRPr lang="en-US" sz="780" dirty="0"/>
          </a:p>
        </p:txBody>
      </p:sp>
      <p:sp>
        <p:nvSpPr>
          <p:cNvPr id="23" name="Text 16"/>
          <p:cNvSpPr/>
          <p:nvPr/>
        </p:nvSpPr>
        <p:spPr>
          <a:xfrm>
            <a:off x="235915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complaint capture from natural language.</a:t>
            </a:r>
            <a:endParaRPr lang="en-US" sz="73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78024" y="3433572"/>
            <a:ext cx="118872" cy="1188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64261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8024" y="3671316"/>
            <a:ext cx="118872" cy="1188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64261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78024" y="3909060"/>
            <a:ext cx="118872" cy="11887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4261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30" name="Shape 20"/>
          <p:cNvSpPr/>
          <p:nvPr/>
        </p:nvSpPr>
        <p:spPr>
          <a:xfrm>
            <a:off x="2478024" y="4224528"/>
            <a:ext cx="13258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247802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680" dirty="0"/>
          </a:p>
        </p:txBody>
      </p:sp>
      <p:sp>
        <p:nvSpPr>
          <p:cNvPr id="32" name="Shape 22"/>
          <p:cNvSpPr/>
          <p:nvPr/>
        </p:nvSpPr>
        <p:spPr>
          <a:xfrm>
            <a:off x="418795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82896" y="1627632"/>
            <a:ext cx="420624" cy="42062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27939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ASSISTANT</a:t>
            </a:r>
            <a:endParaRPr lang="en-US" sz="780" dirty="0"/>
          </a:p>
        </p:txBody>
      </p:sp>
      <p:sp>
        <p:nvSpPr>
          <p:cNvPr id="35" name="Text 24"/>
          <p:cNvSpPr/>
          <p:nvPr/>
        </p:nvSpPr>
        <p:spPr>
          <a:xfrm>
            <a:off x="432511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the issue and confirm the draft.</a:t>
            </a:r>
            <a:endParaRPr lang="en-US" sz="73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43984" y="3433572"/>
            <a:ext cx="118872" cy="1188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60857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43984" y="3671316"/>
            <a:ext cx="118872" cy="11887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60857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43984" y="3909060"/>
            <a:ext cx="118872" cy="11887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60857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42" name="Shape 28"/>
          <p:cNvSpPr/>
          <p:nvPr/>
        </p:nvSpPr>
        <p:spPr>
          <a:xfrm>
            <a:off x="4443984" y="4224528"/>
            <a:ext cx="13258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3" name="Text 29"/>
          <p:cNvSpPr/>
          <p:nvPr/>
        </p:nvSpPr>
        <p:spPr>
          <a:xfrm>
            <a:off x="444398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</a:t>
            </a:r>
            <a:endParaRPr lang="en-US" sz="680" dirty="0"/>
          </a:p>
        </p:txBody>
      </p:sp>
      <p:sp>
        <p:nvSpPr>
          <p:cNvPr id="44" name="Shape 30"/>
          <p:cNvSpPr/>
          <p:nvPr/>
        </p:nvSpPr>
        <p:spPr>
          <a:xfrm>
            <a:off x="615391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48856" y="1627632"/>
            <a:ext cx="420624" cy="420624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24535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IVR OR CALL</a:t>
            </a:r>
            <a:endParaRPr lang="en-US" sz="780" dirty="0"/>
          </a:p>
        </p:txBody>
      </p:sp>
      <p:sp>
        <p:nvSpPr>
          <p:cNvPr id="47" name="Text 32"/>
          <p:cNvSpPr/>
          <p:nvPr/>
        </p:nvSpPr>
        <p:spPr>
          <a:xfrm>
            <a:off x="629107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without smartphone or internet.</a:t>
            </a:r>
            <a:endParaRPr lang="en-US" sz="73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09944" y="3433572"/>
            <a:ext cx="118872" cy="118872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657453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09944" y="3671316"/>
            <a:ext cx="118872" cy="118872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57453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09944" y="3909060"/>
            <a:ext cx="118872" cy="118872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7453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54" name="Shape 36"/>
          <p:cNvSpPr/>
          <p:nvPr/>
        </p:nvSpPr>
        <p:spPr>
          <a:xfrm>
            <a:off x="6409944" y="4224528"/>
            <a:ext cx="132588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640994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</a:t>
            </a:r>
            <a:endParaRPr lang="en-US" sz="680" dirty="0"/>
          </a:p>
        </p:txBody>
      </p:sp>
      <p:sp>
        <p:nvSpPr>
          <p:cNvPr id="56" name="Shape 38"/>
          <p:cNvSpPr/>
          <p:nvPr/>
        </p:nvSpPr>
        <p:spPr>
          <a:xfrm>
            <a:off x="811987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57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814816" y="1627632"/>
            <a:ext cx="420624" cy="420624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821131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BOT</a:t>
            </a:r>
            <a:endParaRPr lang="en-US" sz="780" dirty="0"/>
          </a:p>
        </p:txBody>
      </p:sp>
      <p:sp>
        <p:nvSpPr>
          <p:cNvPr id="59" name="Text 40"/>
          <p:cNvSpPr/>
          <p:nvPr/>
        </p:nvSpPr>
        <p:spPr>
          <a:xfrm>
            <a:off x="825703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upload, tracking and reopen in chat.</a:t>
            </a:r>
            <a:endParaRPr lang="en-US" sz="73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375904" y="3433572"/>
            <a:ext cx="118872" cy="118872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854049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375904" y="3671316"/>
            <a:ext cx="118872" cy="118872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854049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375904" y="3909060"/>
            <a:ext cx="118872" cy="118872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854049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66" name="Shape 44"/>
          <p:cNvSpPr/>
          <p:nvPr/>
        </p:nvSpPr>
        <p:spPr>
          <a:xfrm>
            <a:off x="8375904" y="4224528"/>
            <a:ext cx="1325880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67" name="Text 45"/>
          <p:cNvSpPr/>
          <p:nvPr/>
        </p:nvSpPr>
        <p:spPr>
          <a:xfrm>
            <a:off x="837590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</a:t>
            </a:r>
            <a:endParaRPr lang="en-US" sz="680" dirty="0"/>
          </a:p>
        </p:txBody>
      </p:sp>
      <p:sp>
        <p:nvSpPr>
          <p:cNvPr id="68" name="Shape 46"/>
          <p:cNvSpPr/>
          <p:nvPr/>
        </p:nvSpPr>
        <p:spPr>
          <a:xfrm>
            <a:off x="10085832" y="1417320"/>
            <a:ext cx="184708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780776" y="1627632"/>
            <a:ext cx="420624" cy="420624"/>
          </a:xfrm>
          <a:prstGeom prst="rect">
            <a:avLst/>
          </a:prstGeom>
        </p:spPr>
      </p:pic>
      <p:sp>
        <p:nvSpPr>
          <p:cNvPr id="70" name="Text 47"/>
          <p:cNvSpPr/>
          <p:nvPr/>
        </p:nvSpPr>
        <p:spPr>
          <a:xfrm>
            <a:off x="10177272" y="2148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PORTAL</a:t>
            </a:r>
            <a:endParaRPr lang="en-US" sz="780" dirty="0"/>
          </a:p>
        </p:txBody>
      </p:sp>
      <p:sp>
        <p:nvSpPr>
          <p:cNvPr id="71" name="Text 48"/>
          <p:cNvSpPr/>
          <p:nvPr/>
        </p:nvSpPr>
        <p:spPr>
          <a:xfrm>
            <a:off x="10222992" y="25420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Browser-based complaint and tracking flow.</a:t>
            </a:r>
            <a:endParaRPr lang="en-US" sz="730" dirty="0"/>
          </a:p>
        </p:txBody>
      </p:sp>
      <p:pic>
        <p:nvPicPr>
          <p:cNvPr id="72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341864" y="3433572"/>
            <a:ext cx="118872" cy="118872"/>
          </a:xfrm>
          <a:prstGeom prst="rect">
            <a:avLst/>
          </a:prstGeom>
        </p:spPr>
      </p:pic>
      <p:sp>
        <p:nvSpPr>
          <p:cNvPr id="73" name="Text 49"/>
          <p:cNvSpPr/>
          <p:nvPr/>
        </p:nvSpPr>
        <p:spPr>
          <a:xfrm>
            <a:off x="10506456" y="34015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6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341864" y="3671316"/>
            <a:ext cx="118872" cy="118872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10506456" y="363931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proof</a:t>
            </a:r>
            <a:endParaRPr lang="en-US" sz="760" dirty="0"/>
          </a:p>
        </p:txBody>
      </p:sp>
      <p:pic>
        <p:nvPicPr>
          <p:cNvPr id="76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41864" y="3909060"/>
            <a:ext cx="118872" cy="118872"/>
          </a:xfrm>
          <a:prstGeom prst="rect">
            <a:avLst/>
          </a:prstGeom>
        </p:spPr>
      </p:pic>
      <p:sp>
        <p:nvSpPr>
          <p:cNvPr id="77" name="Text 51"/>
          <p:cNvSpPr/>
          <p:nvPr/>
        </p:nvSpPr>
        <p:spPr>
          <a:xfrm>
            <a:off x="10506456" y="387705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760" dirty="0"/>
          </a:p>
        </p:txBody>
      </p:sp>
      <p:sp>
        <p:nvSpPr>
          <p:cNvPr id="78" name="Shape 52"/>
          <p:cNvSpPr/>
          <p:nvPr/>
        </p:nvSpPr>
        <p:spPr>
          <a:xfrm>
            <a:off x="10341864" y="4224528"/>
            <a:ext cx="1325880" cy="25603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9" name="Text 53"/>
          <p:cNvSpPr/>
          <p:nvPr/>
        </p:nvSpPr>
        <p:spPr>
          <a:xfrm>
            <a:off x="10341864" y="42611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680" dirty="0"/>
          </a:p>
        </p:txBody>
      </p:sp>
      <p:sp>
        <p:nvSpPr>
          <p:cNvPr id="80" name="Shape 54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1" name="Text 55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platform, multiple citizen access paths, one reliable complaint lifecycle.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OF 15 - REAL-TIME TRACKING AND TRANSPARENCY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where your complaint stands at every step.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34747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TRACKING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6032" y="1463040"/>
            <a:ext cx="33375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" y="16184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1554480"/>
            <a:ext cx="2697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ID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04672" y="1819656"/>
            <a:ext cx="2697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by complaint number and mobile number for guest cases.</a:t>
            </a:r>
            <a:endParaRPr lang="en-US" sz="690" dirty="0"/>
          </a:p>
        </p:txBody>
      </p:sp>
      <p:sp>
        <p:nvSpPr>
          <p:cNvPr id="14" name="Shape 11"/>
          <p:cNvSpPr/>
          <p:nvPr/>
        </p:nvSpPr>
        <p:spPr>
          <a:xfrm>
            <a:off x="256032" y="2395728"/>
            <a:ext cx="33375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" y="255117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4672" y="2487168"/>
            <a:ext cx="2697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and contact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04672" y="2752344"/>
            <a:ext cx="2697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department phone, email, address and coordinates.</a:t>
            </a:r>
            <a:endParaRPr lang="en-US" sz="690" dirty="0"/>
          </a:p>
        </p:txBody>
      </p:sp>
      <p:sp>
        <p:nvSpPr>
          <p:cNvPr id="18" name="Shape 14"/>
          <p:cNvSpPr/>
          <p:nvPr/>
        </p:nvSpPr>
        <p:spPr>
          <a:xfrm>
            <a:off x="256032" y="3328416"/>
            <a:ext cx="33375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8" y="348386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" y="3419856"/>
            <a:ext cx="2697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04672" y="3685032"/>
            <a:ext cx="26974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Time-stamped status history from report to closure.</a:t>
            </a:r>
            <a:endParaRPr lang="en-US" sz="690" dirty="0"/>
          </a:p>
        </p:txBody>
      </p:sp>
      <p:sp>
        <p:nvSpPr>
          <p:cNvPr id="22" name="Shape 17"/>
          <p:cNvSpPr/>
          <p:nvPr/>
        </p:nvSpPr>
        <p:spPr>
          <a:xfrm>
            <a:off x="3886200" y="1143000"/>
            <a:ext cx="80650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922776" y="1161288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TIMELINE</a:t>
            </a:r>
            <a:endParaRPr lang="en-US" sz="820" dirty="0"/>
          </a:p>
        </p:txBody>
      </p:sp>
      <p:sp>
        <p:nvSpPr>
          <p:cNvPr id="24" name="Shape 19"/>
          <p:cNvSpPr/>
          <p:nvPr/>
        </p:nvSpPr>
        <p:spPr>
          <a:xfrm>
            <a:off x="3977640" y="1572768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5656" y="172821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26280" y="1664208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526280" y="1929384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28" name="Shape 22"/>
          <p:cNvSpPr/>
          <p:nvPr/>
        </p:nvSpPr>
        <p:spPr>
          <a:xfrm>
            <a:off x="5696712" y="1947672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5925312" y="1572768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53328" y="1728216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73952" y="1664208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verified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6473952" y="1929384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33" name="Shape 26"/>
          <p:cNvSpPr/>
          <p:nvPr/>
        </p:nvSpPr>
        <p:spPr>
          <a:xfrm>
            <a:off x="7644384" y="1947672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872984" y="1572768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1000" y="1728216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21624" y="1664208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check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8421624" y="1929384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38" name="Shape 30"/>
          <p:cNvSpPr/>
          <p:nvPr/>
        </p:nvSpPr>
        <p:spPr>
          <a:xfrm>
            <a:off x="9592056" y="1947672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9820656" y="1572768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48672" y="1728216"/>
            <a:ext cx="329184" cy="32918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369296" y="1664208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50" dirty="0"/>
          </a:p>
        </p:txBody>
      </p:sp>
      <p:sp>
        <p:nvSpPr>
          <p:cNvPr id="42" name="Text 33"/>
          <p:cNvSpPr/>
          <p:nvPr/>
        </p:nvSpPr>
        <p:spPr>
          <a:xfrm>
            <a:off x="10369296" y="1929384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43" name="Shape 34"/>
          <p:cNvSpPr/>
          <p:nvPr/>
        </p:nvSpPr>
        <p:spPr>
          <a:xfrm>
            <a:off x="3977640" y="2743200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05656" y="2898648"/>
            <a:ext cx="329184" cy="32918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526280" y="2834640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6" name="Text 36"/>
          <p:cNvSpPr/>
          <p:nvPr/>
        </p:nvSpPr>
        <p:spPr>
          <a:xfrm>
            <a:off x="4526280" y="3099816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47" name="Shape 37"/>
          <p:cNvSpPr/>
          <p:nvPr/>
        </p:nvSpPr>
        <p:spPr>
          <a:xfrm>
            <a:off x="5696712" y="3118104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48" name="Shape 38"/>
          <p:cNvSpPr/>
          <p:nvPr/>
        </p:nvSpPr>
        <p:spPr>
          <a:xfrm>
            <a:off x="5925312" y="2743200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53328" y="2898648"/>
            <a:ext cx="329184" cy="329184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473952" y="2834640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uploaded</a:t>
            </a:r>
            <a:endParaRPr lang="en-US" sz="850" dirty="0"/>
          </a:p>
        </p:txBody>
      </p:sp>
      <p:sp>
        <p:nvSpPr>
          <p:cNvPr id="51" name="Text 40"/>
          <p:cNvSpPr/>
          <p:nvPr/>
        </p:nvSpPr>
        <p:spPr>
          <a:xfrm>
            <a:off x="6473952" y="3099816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52" name="Shape 41"/>
          <p:cNvSpPr/>
          <p:nvPr/>
        </p:nvSpPr>
        <p:spPr>
          <a:xfrm>
            <a:off x="7644384" y="3118104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3" name="Shape 42"/>
          <p:cNvSpPr/>
          <p:nvPr/>
        </p:nvSpPr>
        <p:spPr>
          <a:xfrm>
            <a:off x="7872984" y="2743200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01000" y="2898648"/>
            <a:ext cx="329184" cy="329184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8421624" y="2834640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Solved</a:t>
            </a:r>
            <a:endParaRPr lang="en-US" sz="850" dirty="0"/>
          </a:p>
        </p:txBody>
      </p:sp>
      <p:sp>
        <p:nvSpPr>
          <p:cNvPr id="56" name="Text 44"/>
          <p:cNvSpPr/>
          <p:nvPr/>
        </p:nvSpPr>
        <p:spPr>
          <a:xfrm>
            <a:off x="8421624" y="3099816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57" name="Shape 45"/>
          <p:cNvSpPr/>
          <p:nvPr/>
        </p:nvSpPr>
        <p:spPr>
          <a:xfrm>
            <a:off x="9592056" y="3118104"/>
            <a:ext cx="164592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8" name="Shape 46"/>
          <p:cNvSpPr/>
          <p:nvPr/>
        </p:nvSpPr>
        <p:spPr>
          <a:xfrm>
            <a:off x="9820656" y="2743200"/>
            <a:ext cx="1719072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948672" y="2898648"/>
            <a:ext cx="329184" cy="329184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10369296" y="2834640"/>
            <a:ext cx="107899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</a:t>
            </a:r>
            <a:endParaRPr lang="en-US" sz="850" dirty="0"/>
          </a:p>
        </p:txBody>
      </p:sp>
      <p:sp>
        <p:nvSpPr>
          <p:cNvPr id="61" name="Text 48"/>
          <p:cNvSpPr/>
          <p:nvPr/>
        </p:nvSpPr>
        <p:spPr>
          <a:xfrm>
            <a:off x="10369296" y="3099816"/>
            <a:ext cx="107899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to citizen and department.</a:t>
            </a:r>
            <a:endParaRPr lang="en-US" sz="690" dirty="0"/>
          </a:p>
        </p:txBody>
      </p:sp>
      <p:sp>
        <p:nvSpPr>
          <p:cNvPr id="62" name="Shape 49"/>
          <p:cNvSpPr/>
          <p:nvPr/>
        </p:nvSpPr>
        <p:spPr>
          <a:xfrm>
            <a:off x="3886200" y="4251960"/>
            <a:ext cx="80650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3922776" y="4270248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LOGIC</a:t>
            </a:r>
            <a:endParaRPr lang="en-US" sz="820" dirty="0"/>
          </a:p>
        </p:txBody>
      </p:sp>
      <p:sp>
        <p:nvSpPr>
          <p:cNvPr id="64" name="Shape 51"/>
          <p:cNvSpPr/>
          <p:nvPr/>
        </p:nvSpPr>
        <p:spPr>
          <a:xfrm>
            <a:off x="3977640" y="4617720"/>
            <a:ext cx="138988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5" name="Text 52"/>
          <p:cNvSpPr/>
          <p:nvPr/>
        </p:nvSpPr>
        <p:spPr>
          <a:xfrm>
            <a:off x="4023360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solved complaints</a:t>
            </a:r>
            <a:endParaRPr lang="en-US" sz="700" dirty="0"/>
          </a:p>
        </p:txBody>
      </p:sp>
      <p:sp>
        <p:nvSpPr>
          <p:cNvPr id="66" name="Shape 53"/>
          <p:cNvSpPr/>
          <p:nvPr/>
        </p:nvSpPr>
        <p:spPr>
          <a:xfrm>
            <a:off x="5550408" y="4617720"/>
            <a:ext cx="138988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7" name="Text 54"/>
          <p:cNvSpPr/>
          <p:nvPr/>
        </p:nvSpPr>
        <p:spPr>
          <a:xfrm>
            <a:off x="5596128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7 days</a:t>
            </a:r>
            <a:endParaRPr lang="en-US" sz="700" dirty="0"/>
          </a:p>
        </p:txBody>
      </p:sp>
      <p:sp>
        <p:nvSpPr>
          <p:cNvPr id="68" name="Shape 55"/>
          <p:cNvSpPr/>
          <p:nvPr/>
        </p:nvSpPr>
        <p:spPr>
          <a:xfrm>
            <a:off x="7123176" y="4617720"/>
            <a:ext cx="138988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7168896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required</a:t>
            </a:r>
            <a:endParaRPr lang="en-US" sz="700" dirty="0"/>
          </a:p>
        </p:txBody>
      </p:sp>
      <p:sp>
        <p:nvSpPr>
          <p:cNvPr id="70" name="Shape 57"/>
          <p:cNvSpPr/>
          <p:nvPr/>
        </p:nvSpPr>
        <p:spPr>
          <a:xfrm>
            <a:off x="8695944" y="4617720"/>
            <a:ext cx="1389888" cy="47548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1" name="Text 58"/>
          <p:cNvSpPr/>
          <p:nvPr/>
        </p:nvSpPr>
        <p:spPr>
          <a:xfrm>
            <a:off x="8741664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proof required</a:t>
            </a:r>
            <a:endParaRPr lang="en-US" sz="700" dirty="0"/>
          </a:p>
        </p:txBody>
      </p:sp>
      <p:sp>
        <p:nvSpPr>
          <p:cNvPr id="72" name="Shape 59"/>
          <p:cNvSpPr/>
          <p:nvPr/>
        </p:nvSpPr>
        <p:spPr>
          <a:xfrm>
            <a:off x="10268712" y="4617720"/>
            <a:ext cx="1389888" cy="475488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10314432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to review</a:t>
            </a:r>
            <a:endParaRPr lang="en-US" sz="700" dirty="0"/>
          </a:p>
        </p:txBody>
      </p:sp>
      <p:sp>
        <p:nvSpPr>
          <p:cNvPr id="74" name="Shape 61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 makes the complaint system trustworthy after submission.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OF 15 - ADMIN COMMAND CENTER AND ANALYTICS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insights for smarter decisions and better cities.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12,842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complaints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9,215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0604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89204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2,351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3776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1,276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6948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Reopened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955548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compliance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228600" y="2103120"/>
            <a:ext cx="37033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" y="212140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TREND</a:t>
            </a:r>
            <a:endParaRPr lang="en-US" sz="82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56032" y="2395728"/>
          <a:ext cx="3639312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4160520" y="2103120"/>
            <a:ext cx="27889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97096" y="2121408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CATEGORIES</a:t>
            </a:r>
            <a:endParaRPr lang="en-US" sz="82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4187952" y="2395728"/>
          <a:ext cx="27432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7242048" y="2103120"/>
            <a:ext cx="45720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78624" y="2121408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PERFORMANCE</a:t>
            </a:r>
            <a:endParaRPr lang="en-US" sz="82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395728"/>
          <a:ext cx="4526280" cy="150876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91440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Dept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SLA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Roads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3,245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2.1d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Waste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2,112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Water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1,642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2.3d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92%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1,258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7"/>
          <p:cNvSpPr/>
          <p:nvPr/>
        </p:nvSpPr>
        <p:spPr>
          <a:xfrm>
            <a:off x="228600" y="425196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5176" y="427024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AND QUICK ACTIONS</a:t>
            </a:r>
            <a:endParaRPr lang="en-US" sz="820" dirty="0"/>
          </a:p>
        </p:txBody>
      </p:sp>
      <p:sp>
        <p:nvSpPr>
          <p:cNvPr id="34" name="Shape 29"/>
          <p:cNvSpPr/>
          <p:nvPr/>
        </p:nvSpPr>
        <p:spPr>
          <a:xfrm>
            <a:off x="320040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768" y="4736592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95528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breach alerts</a:t>
            </a:r>
            <a:endParaRPr lang="en-US" sz="780" dirty="0"/>
          </a:p>
        </p:txBody>
      </p:sp>
      <p:sp>
        <p:nvSpPr>
          <p:cNvPr id="37" name="Text 31"/>
          <p:cNvSpPr/>
          <p:nvPr/>
        </p:nvSpPr>
        <p:spPr>
          <a:xfrm>
            <a:off x="795528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38" name="Shape 32"/>
          <p:cNvSpPr/>
          <p:nvPr/>
        </p:nvSpPr>
        <p:spPr>
          <a:xfrm>
            <a:off x="2221992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1720" y="4736592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697480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cases</a:t>
            </a:r>
            <a:endParaRPr lang="en-US" sz="780" dirty="0"/>
          </a:p>
        </p:txBody>
      </p:sp>
      <p:sp>
        <p:nvSpPr>
          <p:cNvPr id="41" name="Text 34"/>
          <p:cNvSpPr/>
          <p:nvPr/>
        </p:nvSpPr>
        <p:spPr>
          <a:xfrm>
            <a:off x="2697480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42" name="Shape 35"/>
          <p:cNvSpPr/>
          <p:nvPr/>
        </p:nvSpPr>
        <p:spPr>
          <a:xfrm>
            <a:off x="4123944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33672" y="4736592"/>
            <a:ext cx="292608" cy="29260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599432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Reopened complaints</a:t>
            </a:r>
            <a:endParaRPr lang="en-US" sz="780" dirty="0"/>
          </a:p>
        </p:txBody>
      </p:sp>
      <p:sp>
        <p:nvSpPr>
          <p:cNvPr id="45" name="Text 37"/>
          <p:cNvSpPr/>
          <p:nvPr/>
        </p:nvSpPr>
        <p:spPr>
          <a:xfrm>
            <a:off x="4599432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46" name="Shape 38"/>
          <p:cNvSpPr/>
          <p:nvPr/>
        </p:nvSpPr>
        <p:spPr>
          <a:xfrm>
            <a:off x="6025896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5624" y="4736592"/>
            <a:ext cx="292608" cy="29260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501384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departments</a:t>
            </a:r>
            <a:endParaRPr lang="en-US" sz="780" dirty="0"/>
          </a:p>
        </p:txBody>
      </p:sp>
      <p:sp>
        <p:nvSpPr>
          <p:cNvPr id="49" name="Text 40"/>
          <p:cNvSpPr/>
          <p:nvPr/>
        </p:nvSpPr>
        <p:spPr>
          <a:xfrm>
            <a:off x="6501384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50" name="Shape 41"/>
          <p:cNvSpPr/>
          <p:nvPr/>
        </p:nvSpPr>
        <p:spPr>
          <a:xfrm>
            <a:off x="7927848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37576" y="4736592"/>
            <a:ext cx="292608" cy="29260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8403336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reports</a:t>
            </a:r>
            <a:endParaRPr lang="en-US" sz="780" dirty="0"/>
          </a:p>
        </p:txBody>
      </p:sp>
      <p:sp>
        <p:nvSpPr>
          <p:cNvPr id="53" name="Text 43"/>
          <p:cNvSpPr/>
          <p:nvPr/>
        </p:nvSpPr>
        <p:spPr>
          <a:xfrm>
            <a:off x="8403336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54" name="Shape 44"/>
          <p:cNvSpPr/>
          <p:nvPr/>
        </p:nvSpPr>
        <p:spPr>
          <a:xfrm>
            <a:off x="9829800" y="4572000"/>
            <a:ext cx="17373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39528" y="4736592"/>
            <a:ext cx="292608" cy="29260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0305288" y="4645152"/>
            <a:ext cx="1188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notices</a:t>
            </a:r>
            <a:endParaRPr lang="en-US" sz="780" dirty="0"/>
          </a:p>
        </p:txBody>
      </p:sp>
      <p:sp>
        <p:nvSpPr>
          <p:cNvPr id="57" name="Text 46"/>
          <p:cNvSpPr/>
          <p:nvPr/>
        </p:nvSpPr>
        <p:spPr>
          <a:xfrm>
            <a:off x="10305288" y="4882896"/>
            <a:ext cx="1188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action surface</a:t>
            </a:r>
            <a:endParaRPr lang="en-US" sz="670" dirty="0"/>
          </a:p>
        </p:txBody>
      </p:sp>
      <p:sp>
        <p:nvSpPr>
          <p:cNvPr id="58" name="Shape 47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admins get operational visibility across complaints, departments, heatmaps and service quality.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OF 15 - DEPARTMENT DASHBOARD AND FIELD OPERATIONS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information. Right time. Right action.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1704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728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0040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704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478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2648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9006840" y="1097280"/>
            <a:ext cx="2788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17043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05256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Overdue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28600" y="214884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" y="216712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WORKFLOW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20040" y="2514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056" y="2670048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2606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queue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68680" y="2871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Officer receives verified case.</a:t>
            </a:r>
            <a:endParaRPr lang="en-US" sz="690" dirty="0"/>
          </a:p>
        </p:txBody>
      </p:sp>
      <p:sp>
        <p:nvSpPr>
          <p:cNvPr id="26" name="Shape 23"/>
          <p:cNvSpPr/>
          <p:nvPr/>
        </p:nvSpPr>
        <p:spPr>
          <a:xfrm>
            <a:off x="4206240" y="2514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256" y="2670048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754880" y="2606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 view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54880" y="2871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and map available.</a:t>
            </a:r>
            <a:endParaRPr lang="en-US" sz="690" dirty="0"/>
          </a:p>
        </p:txBody>
      </p:sp>
      <p:sp>
        <p:nvSpPr>
          <p:cNvPr id="30" name="Shape 26"/>
          <p:cNvSpPr/>
          <p:nvPr/>
        </p:nvSpPr>
        <p:spPr>
          <a:xfrm>
            <a:off x="8092440" y="2514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0456" y="2670048"/>
            <a:ext cx="329184" cy="32918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641080" y="2606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action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641080" y="2871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starts ground work.</a:t>
            </a:r>
            <a:endParaRPr lang="en-US" sz="690" dirty="0"/>
          </a:p>
        </p:txBody>
      </p:sp>
      <p:sp>
        <p:nvSpPr>
          <p:cNvPr id="34" name="Shape 29"/>
          <p:cNvSpPr/>
          <p:nvPr/>
        </p:nvSpPr>
        <p:spPr>
          <a:xfrm>
            <a:off x="320040" y="3657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056" y="3813048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3749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updates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868680" y="4014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to process to solved.</a:t>
            </a:r>
            <a:endParaRPr lang="en-US" sz="690" dirty="0"/>
          </a:p>
        </p:txBody>
      </p:sp>
      <p:sp>
        <p:nvSpPr>
          <p:cNvPr id="38" name="Shape 32"/>
          <p:cNvSpPr/>
          <p:nvPr/>
        </p:nvSpPr>
        <p:spPr>
          <a:xfrm>
            <a:off x="4206240" y="3657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256" y="381304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754880" y="3749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proof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4754880" y="4014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evidence uploaded.</a:t>
            </a:r>
            <a:endParaRPr lang="en-US" sz="690" dirty="0"/>
          </a:p>
        </p:txBody>
      </p:sp>
      <p:sp>
        <p:nvSpPr>
          <p:cNvPr id="42" name="Shape 35"/>
          <p:cNvSpPr/>
          <p:nvPr/>
        </p:nvSpPr>
        <p:spPr>
          <a:xfrm>
            <a:off x="8092440" y="3657600"/>
            <a:ext cx="3456432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0456" y="381304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641080" y="3749040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feedback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8641080" y="4014216"/>
            <a:ext cx="28163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and reopen signal quality.</a:t>
            </a:r>
            <a:endParaRPr lang="en-US" sz="690" dirty="0"/>
          </a:p>
        </p:txBody>
      </p:sp>
      <p:sp>
        <p:nvSpPr>
          <p:cNvPr id="46" name="Shape 38"/>
          <p:cNvSpPr/>
          <p:nvPr/>
        </p:nvSpPr>
        <p:spPr>
          <a:xfrm>
            <a:off x="228600" y="507492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265176" y="509320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METRICS</a:t>
            </a:r>
            <a:endParaRPr lang="en-US" sz="820" dirty="0"/>
          </a:p>
        </p:txBody>
      </p:sp>
      <p:sp>
        <p:nvSpPr>
          <p:cNvPr id="48" name="Shape 40"/>
          <p:cNvSpPr/>
          <p:nvPr/>
        </p:nvSpPr>
        <p:spPr>
          <a:xfrm>
            <a:off x="320040" y="539496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320040" y="5468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2100" dirty="0"/>
          </a:p>
        </p:txBody>
      </p:sp>
      <p:sp>
        <p:nvSpPr>
          <p:cNvPr id="50" name="Text 42"/>
          <p:cNvSpPr/>
          <p:nvPr/>
        </p:nvSpPr>
        <p:spPr>
          <a:xfrm>
            <a:off x="365760" y="5833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compliance</a:t>
            </a:r>
            <a:endParaRPr lang="en-US" sz="730" dirty="0"/>
          </a:p>
        </p:txBody>
      </p:sp>
      <p:sp>
        <p:nvSpPr>
          <p:cNvPr id="51" name="Shape 43"/>
          <p:cNvSpPr/>
          <p:nvPr/>
        </p:nvSpPr>
        <p:spPr>
          <a:xfrm>
            <a:off x="3200400" y="539496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3200400" y="5468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2.6d</a:t>
            </a:r>
            <a:endParaRPr lang="en-US" sz="2100" dirty="0"/>
          </a:p>
        </p:txBody>
      </p:sp>
      <p:sp>
        <p:nvSpPr>
          <p:cNvPr id="53" name="Text 45"/>
          <p:cNvSpPr/>
          <p:nvPr/>
        </p:nvSpPr>
        <p:spPr>
          <a:xfrm>
            <a:off x="3246120" y="5833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resolution</a:t>
            </a:r>
            <a:endParaRPr lang="en-US" sz="730" dirty="0"/>
          </a:p>
        </p:txBody>
      </p:sp>
      <p:sp>
        <p:nvSpPr>
          <p:cNvPr id="54" name="Shape 46"/>
          <p:cNvSpPr/>
          <p:nvPr/>
        </p:nvSpPr>
        <p:spPr>
          <a:xfrm>
            <a:off x="6080760" y="539496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6080760" y="5468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4.6/5</a:t>
            </a:r>
            <a:endParaRPr lang="en-US" sz="2100" dirty="0"/>
          </a:p>
        </p:txBody>
      </p:sp>
      <p:sp>
        <p:nvSpPr>
          <p:cNvPr id="56" name="Text 48"/>
          <p:cNvSpPr/>
          <p:nvPr/>
        </p:nvSpPr>
        <p:spPr>
          <a:xfrm>
            <a:off x="6126480" y="5833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rating</a:t>
            </a:r>
            <a:endParaRPr lang="en-US" sz="730" dirty="0"/>
          </a:p>
        </p:txBody>
      </p:sp>
      <p:sp>
        <p:nvSpPr>
          <p:cNvPr id="57" name="Shape 49"/>
          <p:cNvSpPr/>
          <p:nvPr/>
        </p:nvSpPr>
        <p:spPr>
          <a:xfrm>
            <a:off x="8961120" y="539496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8961120" y="5468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3.8%</a:t>
            </a:r>
            <a:endParaRPr lang="en-US" sz="2100" dirty="0"/>
          </a:p>
        </p:txBody>
      </p:sp>
      <p:sp>
        <p:nvSpPr>
          <p:cNvPr id="59" name="Text 51"/>
          <p:cNvSpPr/>
          <p:nvPr/>
        </p:nvSpPr>
        <p:spPr>
          <a:xfrm>
            <a:off x="9006840" y="5833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rate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OF 15 - CITIZEN TRACKING, FEEDBACK AND REOPEN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voice. Our action. Complete until resolution.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EXPERIENCE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056" y="172821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664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complaints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68680" y="1929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reports in one place.</a:t>
            </a:r>
            <a:endParaRPr lang="en-US" sz="690" dirty="0"/>
          </a:p>
        </p:txBody>
      </p:sp>
      <p:sp>
        <p:nvSpPr>
          <p:cNvPr id="14" name="Shape 11"/>
          <p:cNvSpPr/>
          <p:nvPr/>
        </p:nvSpPr>
        <p:spPr>
          <a:xfrm>
            <a:off x="4206240" y="1572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256" y="1728216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1664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details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754880" y="1929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category, proof and location.</a:t>
            </a:r>
            <a:endParaRPr lang="en-US" sz="690" dirty="0"/>
          </a:p>
        </p:txBody>
      </p:sp>
      <p:sp>
        <p:nvSpPr>
          <p:cNvPr id="18" name="Shape 14"/>
          <p:cNvSpPr/>
          <p:nvPr/>
        </p:nvSpPr>
        <p:spPr>
          <a:xfrm>
            <a:off x="8092440" y="1572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0456" y="172821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1664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641080" y="1929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history with timestamps.</a:t>
            </a:r>
            <a:endParaRPr lang="en-US" sz="690" dirty="0"/>
          </a:p>
        </p:txBody>
      </p:sp>
      <p:sp>
        <p:nvSpPr>
          <p:cNvPr id="22" name="Shape 17"/>
          <p:cNvSpPr/>
          <p:nvPr/>
        </p:nvSpPr>
        <p:spPr>
          <a:xfrm>
            <a:off x="320040" y="2715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056" y="287121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2807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contact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68680" y="3072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Phone, email and address.</a:t>
            </a:r>
            <a:endParaRPr lang="en-US" sz="690" dirty="0"/>
          </a:p>
        </p:txBody>
      </p:sp>
      <p:sp>
        <p:nvSpPr>
          <p:cNvPr id="26" name="Shape 20"/>
          <p:cNvSpPr/>
          <p:nvPr/>
        </p:nvSpPr>
        <p:spPr>
          <a:xfrm>
            <a:off x="4206240" y="2715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256" y="287121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54880" y="2807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754880" y="3072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satisfaction captured.</a:t>
            </a:r>
            <a:endParaRPr lang="en-US" sz="690" dirty="0"/>
          </a:p>
        </p:txBody>
      </p:sp>
      <p:sp>
        <p:nvSpPr>
          <p:cNvPr id="30" name="Shape 23"/>
          <p:cNvSpPr/>
          <p:nvPr/>
        </p:nvSpPr>
        <p:spPr>
          <a:xfrm>
            <a:off x="8092440" y="2715768"/>
            <a:ext cx="3456432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0456" y="287121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2807208"/>
            <a:ext cx="281635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8641080" y="3072384"/>
            <a:ext cx="281635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and proof if not fixed.</a:t>
            </a:r>
            <a:endParaRPr lang="en-US" sz="690" dirty="0"/>
          </a:p>
        </p:txBody>
      </p:sp>
      <p:sp>
        <p:nvSpPr>
          <p:cNvPr id="34" name="Shape 26"/>
          <p:cNvSpPr/>
          <p:nvPr/>
        </p:nvSpPr>
        <p:spPr>
          <a:xfrm>
            <a:off x="228600" y="425196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65176" y="427024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RULE</a:t>
            </a:r>
            <a:endParaRPr lang="en-US" sz="820" dirty="0"/>
          </a:p>
        </p:txBody>
      </p:sp>
      <p:sp>
        <p:nvSpPr>
          <p:cNvPr id="36" name="Shape 28"/>
          <p:cNvSpPr/>
          <p:nvPr/>
        </p:nvSpPr>
        <p:spPr>
          <a:xfrm>
            <a:off x="320040" y="4617720"/>
            <a:ext cx="1993392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11480" y="4718304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Solved status only</a:t>
            </a:r>
            <a:endParaRPr lang="en-US" sz="780" dirty="0"/>
          </a:p>
        </p:txBody>
      </p:sp>
      <p:sp>
        <p:nvSpPr>
          <p:cNvPr id="38" name="Shape 30"/>
          <p:cNvSpPr/>
          <p:nvPr/>
        </p:nvSpPr>
        <p:spPr>
          <a:xfrm>
            <a:off x="2633472" y="4617720"/>
            <a:ext cx="1993392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724912" y="4718304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7-day window</a:t>
            </a:r>
            <a:endParaRPr lang="en-US" sz="780" dirty="0"/>
          </a:p>
        </p:txBody>
      </p:sp>
      <p:sp>
        <p:nvSpPr>
          <p:cNvPr id="40" name="Shape 32"/>
          <p:cNvSpPr/>
          <p:nvPr/>
        </p:nvSpPr>
        <p:spPr>
          <a:xfrm>
            <a:off x="4946904" y="4617720"/>
            <a:ext cx="1993392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038344" y="4718304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required</a:t>
            </a:r>
            <a:endParaRPr lang="en-US" sz="780" dirty="0"/>
          </a:p>
        </p:txBody>
      </p:sp>
      <p:sp>
        <p:nvSpPr>
          <p:cNvPr id="42" name="Shape 34"/>
          <p:cNvSpPr/>
          <p:nvPr/>
        </p:nvSpPr>
        <p:spPr>
          <a:xfrm>
            <a:off x="7260336" y="4617720"/>
            <a:ext cx="1993392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351776" y="4718304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proof required</a:t>
            </a:r>
            <a:endParaRPr lang="en-US" sz="780" dirty="0"/>
          </a:p>
        </p:txBody>
      </p:sp>
      <p:sp>
        <p:nvSpPr>
          <p:cNvPr id="44" name="Shape 36"/>
          <p:cNvSpPr/>
          <p:nvPr/>
        </p:nvSpPr>
        <p:spPr>
          <a:xfrm>
            <a:off x="9573768" y="4617720"/>
            <a:ext cx="1993392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9665208" y="4718304"/>
            <a:ext cx="181051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Reopened for review</a:t>
            </a:r>
            <a:endParaRPr lang="en-US" sz="780" dirty="0"/>
          </a:p>
        </p:txBody>
      </p:sp>
      <p:sp>
        <p:nvSpPr>
          <p:cNvPr id="46" name="Shape 38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begins after submission: tracking, contact, rating and reopen keep closure honest.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OF 15 - FIELD TEAM APP AND WORK EXECUTION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work. Right place. Right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TEAM CAPABILITIES</a:t>
            </a:r>
            <a:endParaRPr lang="en-US" sz="8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540764"/>
            <a:ext cx="118872" cy="1188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4632" y="150876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complaint queue</a:t>
            </a:r>
            <a:endParaRPr lang="en-US" sz="76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924812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" y="189280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issue location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040" y="2308860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" y="227685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GPS-based site check-in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040" y="2692908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4632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status updates</a:t>
            </a:r>
            <a:endParaRPr lang="en-US" sz="76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0040" y="3076956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632" y="304495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proof upload</a:t>
            </a:r>
            <a:endParaRPr lang="en-US" sz="76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0040" y="3461004"/>
            <a:ext cx="118872" cy="1188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4632" y="34290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sync for low network</a:t>
            </a:r>
            <a:endParaRPr lang="en-US" sz="760" dirty="0"/>
          </a:p>
        </p:txBody>
      </p:sp>
      <p:sp>
        <p:nvSpPr>
          <p:cNvPr id="22" name="Shape 14"/>
          <p:cNvSpPr/>
          <p:nvPr/>
        </p:nvSpPr>
        <p:spPr>
          <a:xfrm>
            <a:off x="4251960" y="1143000"/>
            <a:ext cx="769924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4288536" y="1161288"/>
            <a:ext cx="7626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APP SCREENS</a:t>
            </a:r>
            <a:endParaRPr lang="en-US" sz="820" dirty="0"/>
          </a:p>
        </p:txBody>
      </p:sp>
      <p:sp>
        <p:nvSpPr>
          <p:cNvPr id="24" name="Shape 16"/>
          <p:cNvSpPr/>
          <p:nvPr/>
        </p:nvSpPr>
        <p:spPr>
          <a:xfrm>
            <a:off x="4343400" y="1572768"/>
            <a:ext cx="132588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71416" y="1728216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89204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tasks</a:t>
            </a:r>
            <a:endParaRPr lang="en-US" sz="850" dirty="0"/>
          </a:p>
        </p:txBody>
      </p:sp>
      <p:sp>
        <p:nvSpPr>
          <p:cNvPr id="27" name="Text 18"/>
          <p:cNvSpPr/>
          <p:nvPr/>
        </p:nvSpPr>
        <p:spPr>
          <a:xfrm>
            <a:off x="4892040" y="1929384"/>
            <a:ext cx="685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operational screen.</a:t>
            </a:r>
            <a:endParaRPr lang="en-US" sz="690" dirty="0"/>
          </a:p>
        </p:txBody>
      </p:sp>
      <p:sp>
        <p:nvSpPr>
          <p:cNvPr id="28" name="Shape 19"/>
          <p:cNvSpPr/>
          <p:nvPr/>
        </p:nvSpPr>
        <p:spPr>
          <a:xfrm>
            <a:off x="5852160" y="1572768"/>
            <a:ext cx="132588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80176" y="1728216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0080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details</a:t>
            </a:r>
            <a:endParaRPr lang="en-US" sz="850" dirty="0"/>
          </a:p>
        </p:txBody>
      </p:sp>
      <p:sp>
        <p:nvSpPr>
          <p:cNvPr id="31" name="Text 21"/>
          <p:cNvSpPr/>
          <p:nvPr/>
        </p:nvSpPr>
        <p:spPr>
          <a:xfrm>
            <a:off x="6400800" y="1929384"/>
            <a:ext cx="685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operational screen.</a:t>
            </a:r>
            <a:endParaRPr lang="en-US" sz="690" dirty="0"/>
          </a:p>
        </p:txBody>
      </p:sp>
      <p:sp>
        <p:nvSpPr>
          <p:cNvPr id="32" name="Shape 22"/>
          <p:cNvSpPr/>
          <p:nvPr/>
        </p:nvSpPr>
        <p:spPr>
          <a:xfrm>
            <a:off x="7360920" y="1572768"/>
            <a:ext cx="132588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88936" y="1728216"/>
            <a:ext cx="329184" cy="32918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90956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status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7909560" y="1929384"/>
            <a:ext cx="685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operational screen.</a:t>
            </a:r>
            <a:endParaRPr lang="en-US" sz="690" dirty="0"/>
          </a:p>
        </p:txBody>
      </p:sp>
      <p:sp>
        <p:nvSpPr>
          <p:cNvPr id="36" name="Shape 25"/>
          <p:cNvSpPr/>
          <p:nvPr/>
        </p:nvSpPr>
        <p:spPr>
          <a:xfrm>
            <a:off x="8869680" y="1572768"/>
            <a:ext cx="132588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997696" y="1728216"/>
            <a:ext cx="329184" cy="32918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41832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proof</a:t>
            </a:r>
            <a:endParaRPr lang="en-US" sz="850" dirty="0"/>
          </a:p>
        </p:txBody>
      </p:sp>
      <p:sp>
        <p:nvSpPr>
          <p:cNvPr id="39" name="Text 27"/>
          <p:cNvSpPr/>
          <p:nvPr/>
        </p:nvSpPr>
        <p:spPr>
          <a:xfrm>
            <a:off x="9418320" y="1929384"/>
            <a:ext cx="685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operational screen.</a:t>
            </a:r>
            <a:endParaRPr lang="en-US" sz="690" dirty="0"/>
          </a:p>
        </p:txBody>
      </p:sp>
      <p:sp>
        <p:nvSpPr>
          <p:cNvPr id="40" name="Shape 28"/>
          <p:cNvSpPr/>
          <p:nvPr/>
        </p:nvSpPr>
        <p:spPr>
          <a:xfrm>
            <a:off x="10378440" y="1572768"/>
            <a:ext cx="132588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06456" y="1728216"/>
            <a:ext cx="329184" cy="32918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0927080" y="1664208"/>
            <a:ext cx="685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3" name="Text 30"/>
          <p:cNvSpPr/>
          <p:nvPr/>
        </p:nvSpPr>
        <p:spPr>
          <a:xfrm>
            <a:off x="10927080" y="1929384"/>
            <a:ext cx="68580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operational screen.</a:t>
            </a:r>
            <a:endParaRPr lang="en-US" sz="690" dirty="0"/>
          </a:p>
        </p:txBody>
      </p:sp>
      <p:sp>
        <p:nvSpPr>
          <p:cNvPr id="44" name="Shape 31"/>
          <p:cNvSpPr/>
          <p:nvPr/>
        </p:nvSpPr>
        <p:spPr>
          <a:xfrm>
            <a:off x="228600" y="388620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265176" y="390448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STATUS FLOW</a:t>
            </a:r>
            <a:endParaRPr lang="en-US" sz="820" dirty="0"/>
          </a:p>
        </p:txBody>
      </p:sp>
      <p:sp>
        <p:nvSpPr>
          <p:cNvPr id="46" name="Shape 33"/>
          <p:cNvSpPr/>
          <p:nvPr/>
        </p:nvSpPr>
        <p:spPr>
          <a:xfrm>
            <a:off x="32004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39319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</a:t>
            </a:r>
            <a:endParaRPr lang="en-US" sz="800" dirty="0"/>
          </a:p>
        </p:txBody>
      </p:sp>
      <p:sp>
        <p:nvSpPr>
          <p:cNvPr id="48" name="Shape 35"/>
          <p:cNvSpPr/>
          <p:nvPr/>
        </p:nvSpPr>
        <p:spPr>
          <a:xfrm>
            <a:off x="1984248" y="4617720"/>
            <a:ext cx="201168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49" name="Shape 36"/>
          <p:cNvSpPr/>
          <p:nvPr/>
        </p:nvSpPr>
        <p:spPr>
          <a:xfrm>
            <a:off x="224028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231343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way</a:t>
            </a:r>
            <a:endParaRPr lang="en-US" sz="800" dirty="0"/>
          </a:p>
        </p:txBody>
      </p:sp>
      <p:sp>
        <p:nvSpPr>
          <p:cNvPr id="51" name="Shape 38"/>
          <p:cNvSpPr/>
          <p:nvPr/>
        </p:nvSpPr>
        <p:spPr>
          <a:xfrm>
            <a:off x="3904488" y="4617720"/>
            <a:ext cx="201168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2" name="Shape 39"/>
          <p:cNvSpPr/>
          <p:nvPr/>
        </p:nvSpPr>
        <p:spPr>
          <a:xfrm>
            <a:off x="416052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423367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site</a:t>
            </a:r>
            <a:endParaRPr lang="en-US" sz="800" dirty="0"/>
          </a:p>
        </p:txBody>
      </p:sp>
      <p:sp>
        <p:nvSpPr>
          <p:cNvPr id="54" name="Shape 41"/>
          <p:cNvSpPr/>
          <p:nvPr/>
        </p:nvSpPr>
        <p:spPr>
          <a:xfrm>
            <a:off x="5824728" y="4617720"/>
            <a:ext cx="201168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5" name="Shape 42"/>
          <p:cNvSpPr/>
          <p:nvPr/>
        </p:nvSpPr>
        <p:spPr>
          <a:xfrm>
            <a:off x="608076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6" name="Text 43"/>
          <p:cNvSpPr/>
          <p:nvPr/>
        </p:nvSpPr>
        <p:spPr>
          <a:xfrm>
            <a:off x="615391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57" name="Shape 44"/>
          <p:cNvSpPr/>
          <p:nvPr/>
        </p:nvSpPr>
        <p:spPr>
          <a:xfrm>
            <a:off x="7744968" y="4617720"/>
            <a:ext cx="201168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8" name="Shape 45"/>
          <p:cNvSpPr/>
          <p:nvPr/>
        </p:nvSpPr>
        <p:spPr>
          <a:xfrm>
            <a:off x="800100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807415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submitted</a:t>
            </a:r>
            <a:endParaRPr lang="en-US" sz="800" dirty="0"/>
          </a:p>
        </p:txBody>
      </p:sp>
      <p:sp>
        <p:nvSpPr>
          <p:cNvPr id="60" name="Shape 47"/>
          <p:cNvSpPr/>
          <p:nvPr/>
        </p:nvSpPr>
        <p:spPr>
          <a:xfrm>
            <a:off x="9665208" y="4617720"/>
            <a:ext cx="201168" cy="0"/>
          </a:xfrm>
          <a:prstGeom prst="line">
            <a:avLst/>
          </a:prstGeom>
          <a:noFill/>
          <a:ln w="1016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61" name="Shape 48"/>
          <p:cNvSpPr/>
          <p:nvPr/>
        </p:nvSpPr>
        <p:spPr>
          <a:xfrm>
            <a:off x="9921240" y="4315968"/>
            <a:ext cx="1664208" cy="594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9994392" y="4443984"/>
            <a:ext cx="15179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endParaRPr lang="en-US" sz="800" dirty="0"/>
          </a:p>
        </p:txBody>
      </p:sp>
      <p:sp>
        <p:nvSpPr>
          <p:cNvPr id="63" name="Shape 50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execution closes the loop between digital complaint and real civic repair.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OF 15 - ANALYTICS, REPORTS AND INSIGHTS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speaks. JanHelp helps cities listen.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12,842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9,215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0604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489204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3776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time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4.5/5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26948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9555480" y="1097280"/>
            <a:ext cx="221284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117043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1536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228600" y="2148840"/>
            <a:ext cx="37033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" y="216712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82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56032" y="2432304"/>
          <a:ext cx="3639312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4206240" y="2148840"/>
            <a:ext cx="37033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42816" y="216712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PERFORMANCE</a:t>
            </a:r>
            <a:endParaRPr lang="en-US" sz="82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4233672" y="2432304"/>
          <a:ext cx="3639312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8183880" y="2148840"/>
            <a:ext cx="370332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220456" y="2167128"/>
            <a:ext cx="3630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FEEDBACK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8211312" y="2432304"/>
            <a:ext cx="3639312" cy="1508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9640" y="2743200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1897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/ 5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8458200" y="3246120"/>
            <a:ext cx="3154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suggestions: faster resolution, better communication, cleaner wards.</a:t>
            </a:r>
            <a:endParaRPr lang="en-US" sz="780" dirty="0"/>
          </a:p>
        </p:txBody>
      </p:sp>
      <p:sp>
        <p:nvSpPr>
          <p:cNvPr id="35" name="Shape 30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turns complaints into planning data for better governance.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 OF 15 - DATA-DRIVEN GOVERNANCE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data. Smarter insights. Stronger decisions.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INSIGHTS</a:t>
            </a:r>
            <a:endParaRPr lang="en-US" sz="8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540764"/>
            <a:ext cx="118872" cy="1188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4632" y="150876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 complaints likely to increase</a:t>
            </a:r>
            <a:endParaRPr lang="en-US" sz="76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924812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" y="1892808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Ward-level civic hotspots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040" y="2308860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" y="2276856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breach risk forecast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040" y="2692908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4632" y="2660904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unresolved complaints</a:t>
            </a:r>
            <a:endParaRPr lang="en-US" sz="76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0040" y="3076956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4632" y="3044952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planning suggestions</a:t>
            </a:r>
            <a:endParaRPr lang="en-US" sz="760" dirty="0"/>
          </a:p>
        </p:txBody>
      </p:sp>
      <p:sp>
        <p:nvSpPr>
          <p:cNvPr id="20" name="Shape 13"/>
          <p:cNvSpPr/>
          <p:nvPr/>
        </p:nvSpPr>
        <p:spPr>
          <a:xfrm>
            <a:off x="4251960" y="1143000"/>
            <a:ext cx="37947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288536" y="11612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BENCHMARKING</a:t>
            </a:r>
            <a:endParaRPr lang="en-US" sz="8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508760"/>
          <a:ext cx="3703320" cy="164592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Rating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Bengaluru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91.3%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2.4d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Mumbai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88.6%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85.4%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Chennai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84.2%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46E7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8366760" y="1143000"/>
            <a:ext cx="358444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8403336" y="11612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ALERTS</a:t>
            </a:r>
            <a:endParaRPr lang="en-US" sz="82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58200" y="1540764"/>
            <a:ext cx="118872" cy="1188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622792" y="150876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breach risk</a:t>
            </a:r>
            <a:endParaRPr lang="en-US" sz="76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58200" y="1924812"/>
            <a:ext cx="118872" cy="1188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22792" y="189280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complaint volume</a:t>
            </a:r>
            <a:endParaRPr lang="en-US" sz="76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58200" y="2308860"/>
            <a:ext cx="118872" cy="11887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622792" y="227685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Unusual issue trend</a:t>
            </a:r>
            <a:endParaRPr lang="en-US" sz="76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58200" y="2692908"/>
            <a:ext cx="118872" cy="11887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622792" y="266090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feedback spike</a:t>
            </a:r>
            <a:endParaRPr lang="en-US" sz="76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58200" y="3076956"/>
            <a:ext cx="118872" cy="11887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622792" y="3044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reopen case</a:t>
            </a:r>
            <a:endParaRPr lang="en-US" sz="760" dirty="0"/>
          </a:p>
        </p:txBody>
      </p:sp>
      <p:sp>
        <p:nvSpPr>
          <p:cNvPr id="35" name="Shape 22"/>
          <p:cNvSpPr/>
          <p:nvPr/>
        </p:nvSpPr>
        <p:spPr>
          <a:xfrm>
            <a:off x="228600" y="388620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23"/>
          <p:cNvSpPr/>
          <p:nvPr/>
        </p:nvSpPr>
        <p:spPr>
          <a:xfrm>
            <a:off x="265176" y="390448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SUPPORT</a:t>
            </a:r>
            <a:endParaRPr lang="en-US" sz="820" dirty="0"/>
          </a:p>
        </p:txBody>
      </p:sp>
      <p:sp>
        <p:nvSpPr>
          <p:cNvPr id="37" name="Shape 24"/>
          <p:cNvSpPr/>
          <p:nvPr/>
        </p:nvSpPr>
        <p:spPr>
          <a:xfrm>
            <a:off x="320040" y="4315968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8056" y="4471416"/>
            <a:ext cx="329184" cy="32918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68680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impact</a:t>
            </a:r>
            <a:endParaRPr lang="en-US" sz="850" dirty="0"/>
          </a:p>
        </p:txBody>
      </p:sp>
      <p:sp>
        <p:nvSpPr>
          <p:cNvPr id="40" name="Text 26"/>
          <p:cNvSpPr/>
          <p:nvPr/>
        </p:nvSpPr>
        <p:spPr>
          <a:xfrm>
            <a:off x="868680" y="467258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Data-backed civic decision.</a:t>
            </a:r>
            <a:endParaRPr lang="en-US" sz="690" dirty="0"/>
          </a:p>
        </p:txBody>
      </p:sp>
      <p:sp>
        <p:nvSpPr>
          <p:cNvPr id="41" name="Shape 27"/>
          <p:cNvSpPr/>
          <p:nvPr/>
        </p:nvSpPr>
        <p:spPr>
          <a:xfrm>
            <a:off x="2624328" y="4315968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752344" y="4471416"/>
            <a:ext cx="329184" cy="32918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3172968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 teams</a:t>
            </a:r>
            <a:endParaRPr lang="en-US" sz="850" dirty="0"/>
          </a:p>
        </p:txBody>
      </p:sp>
      <p:sp>
        <p:nvSpPr>
          <p:cNvPr id="44" name="Text 29"/>
          <p:cNvSpPr/>
          <p:nvPr/>
        </p:nvSpPr>
        <p:spPr>
          <a:xfrm>
            <a:off x="3172968" y="467258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Data-backed civic decision.</a:t>
            </a:r>
            <a:endParaRPr lang="en-US" sz="690" dirty="0"/>
          </a:p>
        </p:txBody>
      </p:sp>
      <p:sp>
        <p:nvSpPr>
          <p:cNvPr id="45" name="Shape 30"/>
          <p:cNvSpPr/>
          <p:nvPr/>
        </p:nvSpPr>
        <p:spPr>
          <a:xfrm>
            <a:off x="4928616" y="4315968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056632" y="4471416"/>
            <a:ext cx="329184" cy="329184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5477256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performance</a:t>
            </a:r>
            <a:endParaRPr lang="en-US" sz="850" dirty="0"/>
          </a:p>
        </p:txBody>
      </p:sp>
      <p:sp>
        <p:nvSpPr>
          <p:cNvPr id="48" name="Text 32"/>
          <p:cNvSpPr/>
          <p:nvPr/>
        </p:nvSpPr>
        <p:spPr>
          <a:xfrm>
            <a:off x="5477256" y="467258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Data-backed civic decision.</a:t>
            </a:r>
            <a:endParaRPr lang="en-US" sz="690" dirty="0"/>
          </a:p>
        </p:txBody>
      </p:sp>
      <p:sp>
        <p:nvSpPr>
          <p:cNvPr id="49" name="Shape 33"/>
          <p:cNvSpPr/>
          <p:nvPr/>
        </p:nvSpPr>
        <p:spPr>
          <a:xfrm>
            <a:off x="7232904" y="4315968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360920" y="4471416"/>
            <a:ext cx="329184" cy="329184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7781544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process</a:t>
            </a:r>
            <a:endParaRPr lang="en-US" sz="850" dirty="0"/>
          </a:p>
        </p:txBody>
      </p:sp>
      <p:sp>
        <p:nvSpPr>
          <p:cNvPr id="52" name="Text 35"/>
          <p:cNvSpPr/>
          <p:nvPr/>
        </p:nvSpPr>
        <p:spPr>
          <a:xfrm>
            <a:off x="7781544" y="467258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Data-backed civic decision.</a:t>
            </a:r>
            <a:endParaRPr lang="en-US" sz="690" dirty="0"/>
          </a:p>
        </p:txBody>
      </p:sp>
      <p:sp>
        <p:nvSpPr>
          <p:cNvPr id="53" name="Shape 36"/>
          <p:cNvSpPr/>
          <p:nvPr/>
        </p:nvSpPr>
        <p:spPr>
          <a:xfrm>
            <a:off x="9537192" y="4315968"/>
            <a:ext cx="196596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65208" y="4471416"/>
            <a:ext cx="329184" cy="329184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10085832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city work</a:t>
            </a:r>
            <a:endParaRPr lang="en-US" sz="850" dirty="0"/>
          </a:p>
        </p:txBody>
      </p:sp>
      <p:sp>
        <p:nvSpPr>
          <p:cNvPr id="56" name="Text 38"/>
          <p:cNvSpPr/>
          <p:nvPr/>
        </p:nvSpPr>
        <p:spPr>
          <a:xfrm>
            <a:off x="10085832" y="467258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Data-backed civic decision.</a:t>
            </a:r>
            <a:endParaRPr lang="en-US" sz="690" dirty="0"/>
          </a:p>
        </p:txBody>
      </p:sp>
      <p:sp>
        <p:nvSpPr>
          <p:cNvPr id="57" name="Shape 39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8" name="Text 40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JanHelp turns service complaints into a city management intelligence layer.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 OF 15 - INTEGRATIONS, AUTOMATION AND WORKFLOW ENGINE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Seamless integration. Smart automation. Maximum impact.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INTEGRATIONS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048" y="167335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158191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49808" y="1819656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14" name="Shape 11"/>
          <p:cNvSpPr/>
          <p:nvPr/>
        </p:nvSpPr>
        <p:spPr>
          <a:xfrm>
            <a:off x="2103120" y="1508760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2848" y="167335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78608" y="1581912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2578608" y="1819656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18" name="Shape 14"/>
          <p:cNvSpPr/>
          <p:nvPr/>
        </p:nvSpPr>
        <p:spPr>
          <a:xfrm>
            <a:off x="274320" y="2167128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048" y="233172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" y="2240280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749808" y="2478024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22" name="Shape 17"/>
          <p:cNvSpPr/>
          <p:nvPr/>
        </p:nvSpPr>
        <p:spPr>
          <a:xfrm>
            <a:off x="2103120" y="2167128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2848" y="233172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578608" y="2240280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</a:t>
            </a:r>
            <a:endParaRPr lang="en-US" sz="780" dirty="0"/>
          </a:p>
        </p:txBody>
      </p:sp>
      <p:sp>
        <p:nvSpPr>
          <p:cNvPr id="25" name="Text 19"/>
          <p:cNvSpPr/>
          <p:nvPr/>
        </p:nvSpPr>
        <p:spPr>
          <a:xfrm>
            <a:off x="2578608" y="2478024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26" name="Shape 20"/>
          <p:cNvSpPr/>
          <p:nvPr/>
        </p:nvSpPr>
        <p:spPr>
          <a:xfrm>
            <a:off x="274320" y="2825496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048" y="29900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2898648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center</a:t>
            </a:r>
            <a:endParaRPr lang="en-US" sz="780" dirty="0"/>
          </a:p>
        </p:txBody>
      </p:sp>
      <p:sp>
        <p:nvSpPr>
          <p:cNvPr id="29" name="Text 22"/>
          <p:cNvSpPr/>
          <p:nvPr/>
        </p:nvSpPr>
        <p:spPr>
          <a:xfrm>
            <a:off x="749808" y="3136392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30" name="Shape 23"/>
          <p:cNvSpPr/>
          <p:nvPr/>
        </p:nvSpPr>
        <p:spPr>
          <a:xfrm>
            <a:off x="2103120" y="2825496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12848" y="2990088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78608" y="2898648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</a:t>
            </a:r>
            <a:endParaRPr lang="en-US" sz="780" dirty="0"/>
          </a:p>
        </p:txBody>
      </p:sp>
      <p:sp>
        <p:nvSpPr>
          <p:cNvPr id="33" name="Text 25"/>
          <p:cNvSpPr/>
          <p:nvPr/>
        </p:nvSpPr>
        <p:spPr>
          <a:xfrm>
            <a:off x="2578608" y="3136392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34" name="Shape 26"/>
          <p:cNvSpPr/>
          <p:nvPr/>
        </p:nvSpPr>
        <p:spPr>
          <a:xfrm>
            <a:off x="274320" y="3483864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4048" y="3648456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49808" y="3557016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</a:t>
            </a:r>
            <a:endParaRPr lang="en-US" sz="780" dirty="0"/>
          </a:p>
        </p:txBody>
      </p:sp>
      <p:sp>
        <p:nvSpPr>
          <p:cNvPr id="37" name="Text 28"/>
          <p:cNvSpPr/>
          <p:nvPr/>
        </p:nvSpPr>
        <p:spPr>
          <a:xfrm>
            <a:off x="749808" y="3794760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38" name="Shape 29"/>
          <p:cNvSpPr/>
          <p:nvPr/>
        </p:nvSpPr>
        <p:spPr>
          <a:xfrm>
            <a:off x="2103120" y="3483864"/>
            <a:ext cx="169164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12848" y="3648456"/>
            <a:ext cx="292608" cy="29260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2578608" y="3557016"/>
            <a:ext cx="1143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tools</a:t>
            </a:r>
            <a:endParaRPr lang="en-US" sz="780" dirty="0"/>
          </a:p>
        </p:txBody>
      </p:sp>
      <p:sp>
        <p:nvSpPr>
          <p:cNvPr id="41" name="Text 31"/>
          <p:cNvSpPr/>
          <p:nvPr/>
        </p:nvSpPr>
        <p:spPr>
          <a:xfrm>
            <a:off x="2578608" y="3794760"/>
            <a:ext cx="1143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point</a:t>
            </a:r>
            <a:endParaRPr lang="en-US" sz="670" dirty="0"/>
          </a:p>
        </p:txBody>
      </p:sp>
      <p:sp>
        <p:nvSpPr>
          <p:cNvPr id="42" name="Shape 32"/>
          <p:cNvSpPr/>
          <p:nvPr/>
        </p:nvSpPr>
        <p:spPr>
          <a:xfrm>
            <a:off x="4343400" y="1143000"/>
            <a:ext cx="37947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4379976" y="1161288"/>
            <a:ext cx="3721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ENGINE</a:t>
            </a:r>
            <a:endParaRPr lang="en-US" sz="820" dirty="0"/>
          </a:p>
        </p:txBody>
      </p:sp>
      <p:sp>
        <p:nvSpPr>
          <p:cNvPr id="44" name="Shape 34"/>
          <p:cNvSpPr/>
          <p:nvPr/>
        </p:nvSpPr>
        <p:spPr>
          <a:xfrm>
            <a:off x="4389120" y="1554480"/>
            <a:ext cx="786384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17136" y="1709928"/>
            <a:ext cx="329184" cy="32918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4937760" y="1645920"/>
            <a:ext cx="1463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4937760" y="1911096"/>
            <a:ext cx="146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civic workflow.</a:t>
            </a:r>
            <a:endParaRPr lang="en-US" sz="690" dirty="0"/>
          </a:p>
        </p:txBody>
      </p:sp>
      <p:sp>
        <p:nvSpPr>
          <p:cNvPr id="48" name="Shape 37"/>
          <p:cNvSpPr/>
          <p:nvPr/>
        </p:nvSpPr>
        <p:spPr>
          <a:xfrm>
            <a:off x="5175504" y="2011680"/>
            <a:ext cx="128016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49" name="Shape 38"/>
          <p:cNvSpPr/>
          <p:nvPr/>
        </p:nvSpPr>
        <p:spPr>
          <a:xfrm>
            <a:off x="5321808" y="1554480"/>
            <a:ext cx="786384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449824" y="1709928"/>
            <a:ext cx="329184" cy="32918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5870448" y="1645920"/>
            <a:ext cx="1463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engine</a:t>
            </a:r>
            <a:endParaRPr lang="en-US" sz="850" dirty="0"/>
          </a:p>
        </p:txBody>
      </p:sp>
      <p:sp>
        <p:nvSpPr>
          <p:cNvPr id="52" name="Text 40"/>
          <p:cNvSpPr/>
          <p:nvPr/>
        </p:nvSpPr>
        <p:spPr>
          <a:xfrm>
            <a:off x="5870448" y="1911096"/>
            <a:ext cx="146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civic workflow.</a:t>
            </a:r>
            <a:endParaRPr lang="en-US" sz="690" dirty="0"/>
          </a:p>
        </p:txBody>
      </p:sp>
      <p:sp>
        <p:nvSpPr>
          <p:cNvPr id="53" name="Shape 41"/>
          <p:cNvSpPr/>
          <p:nvPr/>
        </p:nvSpPr>
        <p:spPr>
          <a:xfrm>
            <a:off x="6108192" y="2011680"/>
            <a:ext cx="128016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4" name="Shape 42"/>
          <p:cNvSpPr/>
          <p:nvPr/>
        </p:nvSpPr>
        <p:spPr>
          <a:xfrm>
            <a:off x="6254496" y="1554480"/>
            <a:ext cx="786384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82512" y="1709928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803136" y="1645920"/>
            <a:ext cx="1463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50" dirty="0"/>
          </a:p>
        </p:txBody>
      </p:sp>
      <p:sp>
        <p:nvSpPr>
          <p:cNvPr id="57" name="Text 44"/>
          <p:cNvSpPr/>
          <p:nvPr/>
        </p:nvSpPr>
        <p:spPr>
          <a:xfrm>
            <a:off x="6803136" y="1911096"/>
            <a:ext cx="146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civic workflow.</a:t>
            </a:r>
            <a:endParaRPr lang="en-US" sz="690" dirty="0"/>
          </a:p>
        </p:txBody>
      </p:sp>
      <p:sp>
        <p:nvSpPr>
          <p:cNvPr id="58" name="Shape 45"/>
          <p:cNvSpPr/>
          <p:nvPr/>
        </p:nvSpPr>
        <p:spPr>
          <a:xfrm>
            <a:off x="7040880" y="2011680"/>
            <a:ext cx="128016" cy="0"/>
          </a:xfrm>
          <a:prstGeom prst="line">
            <a:avLst/>
          </a:prstGeom>
          <a:noFill/>
          <a:ln w="889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59" name="Shape 46"/>
          <p:cNvSpPr/>
          <p:nvPr/>
        </p:nvSpPr>
        <p:spPr>
          <a:xfrm>
            <a:off x="7187184" y="1554480"/>
            <a:ext cx="786384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15200" y="1709928"/>
            <a:ext cx="329184" cy="329184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7735824" y="1645920"/>
            <a:ext cx="14630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850" dirty="0"/>
          </a:p>
        </p:txBody>
      </p:sp>
      <p:sp>
        <p:nvSpPr>
          <p:cNvPr id="62" name="Text 48"/>
          <p:cNvSpPr/>
          <p:nvPr/>
        </p:nvSpPr>
        <p:spPr>
          <a:xfrm>
            <a:off x="7735824" y="1911096"/>
            <a:ext cx="14630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civic workflow.</a:t>
            </a:r>
            <a:endParaRPr lang="en-US" sz="690" dirty="0"/>
          </a:p>
        </p:txBody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26280" y="2775204"/>
            <a:ext cx="118872" cy="118872"/>
          </a:xfrm>
          <a:prstGeom prst="rect">
            <a:avLst/>
          </a:prstGeom>
        </p:spPr>
      </p:pic>
      <p:sp>
        <p:nvSpPr>
          <p:cNvPr id="64" name="Text 49"/>
          <p:cNvSpPr/>
          <p:nvPr/>
        </p:nvSpPr>
        <p:spPr>
          <a:xfrm>
            <a:off x="4690872" y="274320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Auto-assign complaints</a:t>
            </a:r>
            <a:endParaRPr lang="en-US" sz="760" dirty="0"/>
          </a:p>
        </p:txBody>
      </p:sp>
      <p:pic>
        <p:nvPicPr>
          <p:cNvPr id="6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526280" y="3095244"/>
            <a:ext cx="118872" cy="118872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4690872" y="306324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overdue work</a:t>
            </a:r>
            <a:endParaRPr lang="en-US" sz="760" dirty="0"/>
          </a:p>
        </p:txBody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526280" y="3415284"/>
            <a:ext cx="118872" cy="118872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4690872" y="338328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reminders</a:t>
            </a:r>
            <a:endParaRPr lang="en-US" sz="760" dirty="0"/>
          </a:p>
        </p:txBody>
      </p:sp>
      <p:pic>
        <p:nvPicPr>
          <p:cNvPr id="69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526280" y="3735324"/>
            <a:ext cx="118872" cy="118872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4690872" y="370332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reports</a:t>
            </a:r>
            <a:endParaRPr lang="en-US" sz="760" dirty="0"/>
          </a:p>
        </p:txBody>
      </p:sp>
      <p:pic>
        <p:nvPicPr>
          <p:cNvPr id="71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26280" y="4055364"/>
            <a:ext cx="118872" cy="118872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690872" y="402336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departments</a:t>
            </a:r>
            <a:endParaRPr lang="en-US" sz="760" dirty="0"/>
          </a:p>
        </p:txBody>
      </p:sp>
      <p:sp>
        <p:nvSpPr>
          <p:cNvPr id="73" name="Shape 54"/>
          <p:cNvSpPr/>
          <p:nvPr/>
        </p:nvSpPr>
        <p:spPr>
          <a:xfrm>
            <a:off x="8458200" y="1143000"/>
            <a:ext cx="34930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55"/>
          <p:cNvSpPr/>
          <p:nvPr/>
        </p:nvSpPr>
        <p:spPr>
          <a:xfrm>
            <a:off x="8494776" y="11612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BUILDER</a:t>
            </a:r>
            <a:endParaRPr lang="en-US" sz="820" dirty="0"/>
          </a:p>
        </p:txBody>
      </p:sp>
      <p:sp>
        <p:nvSpPr>
          <p:cNvPr id="75" name="Shape 56"/>
          <p:cNvSpPr/>
          <p:nvPr/>
        </p:nvSpPr>
        <p:spPr>
          <a:xfrm>
            <a:off x="8503920" y="1508760"/>
            <a:ext cx="33375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76" name="Text 57"/>
          <p:cNvSpPr/>
          <p:nvPr/>
        </p:nvSpPr>
        <p:spPr>
          <a:xfrm>
            <a:off x="8595360" y="1572768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complaint trigger</a:t>
            </a:r>
            <a:endParaRPr lang="en-US" sz="750" dirty="0"/>
          </a:p>
        </p:txBody>
      </p:sp>
      <p:sp>
        <p:nvSpPr>
          <p:cNvPr id="77" name="Shape 58"/>
          <p:cNvSpPr/>
          <p:nvPr/>
        </p:nvSpPr>
        <p:spPr>
          <a:xfrm>
            <a:off x="8503920" y="1984248"/>
            <a:ext cx="333756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78" name="Text 59"/>
          <p:cNvSpPr/>
          <p:nvPr/>
        </p:nvSpPr>
        <p:spPr>
          <a:xfrm>
            <a:off x="8595360" y="2048256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 check</a:t>
            </a:r>
            <a:endParaRPr lang="en-US" sz="750" dirty="0"/>
          </a:p>
        </p:txBody>
      </p:sp>
      <p:sp>
        <p:nvSpPr>
          <p:cNvPr id="79" name="Shape 60"/>
          <p:cNvSpPr/>
          <p:nvPr/>
        </p:nvSpPr>
        <p:spPr>
          <a:xfrm>
            <a:off x="8503920" y="2459736"/>
            <a:ext cx="33375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0" name="Text 61"/>
          <p:cNvSpPr/>
          <p:nvPr/>
        </p:nvSpPr>
        <p:spPr>
          <a:xfrm>
            <a:off x="8595360" y="2523744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Notify supervisor</a:t>
            </a:r>
            <a:endParaRPr lang="en-US" sz="750" dirty="0"/>
          </a:p>
        </p:txBody>
      </p:sp>
      <p:sp>
        <p:nvSpPr>
          <p:cNvPr id="81" name="Shape 62"/>
          <p:cNvSpPr/>
          <p:nvPr/>
        </p:nvSpPr>
        <p:spPr>
          <a:xfrm>
            <a:off x="8503920" y="2935224"/>
            <a:ext cx="33375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2" name="Text 63"/>
          <p:cNvSpPr/>
          <p:nvPr/>
        </p:nvSpPr>
        <p:spPr>
          <a:xfrm>
            <a:off x="8595360" y="2999232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department</a:t>
            </a:r>
            <a:endParaRPr lang="en-US" sz="750" dirty="0"/>
          </a:p>
        </p:txBody>
      </p:sp>
      <p:sp>
        <p:nvSpPr>
          <p:cNvPr id="83" name="Shape 64"/>
          <p:cNvSpPr/>
          <p:nvPr/>
        </p:nvSpPr>
        <p:spPr>
          <a:xfrm>
            <a:off x="8503920" y="3410712"/>
            <a:ext cx="33375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4" name="Text 65"/>
          <p:cNvSpPr/>
          <p:nvPr/>
        </p:nvSpPr>
        <p:spPr>
          <a:xfrm>
            <a:off x="8595360" y="3474720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status</a:t>
            </a:r>
            <a:endParaRPr lang="en-US" sz="750" dirty="0"/>
          </a:p>
        </p:txBody>
      </p:sp>
      <p:sp>
        <p:nvSpPr>
          <p:cNvPr id="85" name="Shape 66"/>
          <p:cNvSpPr/>
          <p:nvPr/>
        </p:nvSpPr>
        <p:spPr>
          <a:xfrm>
            <a:off x="8503920" y="3886200"/>
            <a:ext cx="3337560" cy="38404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6" name="Text 67"/>
          <p:cNvSpPr/>
          <p:nvPr/>
        </p:nvSpPr>
        <p:spPr>
          <a:xfrm>
            <a:off x="8595360" y="3950208"/>
            <a:ext cx="31546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and notify</a:t>
            </a:r>
            <a:endParaRPr lang="en-US" sz="750" dirty="0"/>
          </a:p>
        </p:txBody>
      </p:sp>
      <p:sp>
        <p:nvSpPr>
          <p:cNvPr id="87" name="Shape 68"/>
          <p:cNvSpPr/>
          <p:nvPr/>
        </p:nvSpPr>
        <p:spPr>
          <a:xfrm>
            <a:off x="228600" y="493776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8" name="Text 69"/>
          <p:cNvSpPr/>
          <p:nvPr/>
        </p:nvSpPr>
        <p:spPr>
          <a:xfrm>
            <a:off x="265176" y="495604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IMPACT</a:t>
            </a:r>
            <a:endParaRPr lang="en-US" sz="820" dirty="0"/>
          </a:p>
        </p:txBody>
      </p:sp>
      <p:sp>
        <p:nvSpPr>
          <p:cNvPr id="89" name="Shape 70"/>
          <p:cNvSpPr/>
          <p:nvPr/>
        </p:nvSpPr>
        <p:spPr>
          <a:xfrm>
            <a:off x="320040" y="52852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0" name="Text 71"/>
          <p:cNvSpPr/>
          <p:nvPr/>
        </p:nvSpPr>
        <p:spPr>
          <a:xfrm>
            <a:off x="320040" y="5358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2100" dirty="0"/>
          </a:p>
        </p:txBody>
      </p:sp>
      <p:sp>
        <p:nvSpPr>
          <p:cNvPr id="91" name="Text 72"/>
          <p:cNvSpPr/>
          <p:nvPr/>
        </p:nvSpPr>
        <p:spPr>
          <a:xfrm>
            <a:off x="365760" y="57241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resolution</a:t>
            </a:r>
            <a:endParaRPr lang="en-US" sz="730" dirty="0"/>
          </a:p>
        </p:txBody>
      </p:sp>
      <p:sp>
        <p:nvSpPr>
          <p:cNvPr id="92" name="Shape 73"/>
          <p:cNvSpPr/>
          <p:nvPr/>
        </p:nvSpPr>
        <p:spPr>
          <a:xfrm>
            <a:off x="3200400" y="52852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3" name="Text 74"/>
          <p:cNvSpPr/>
          <p:nvPr/>
        </p:nvSpPr>
        <p:spPr>
          <a:xfrm>
            <a:off x="3200400" y="5358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2100" dirty="0"/>
          </a:p>
        </p:txBody>
      </p:sp>
      <p:sp>
        <p:nvSpPr>
          <p:cNvPr id="94" name="Text 75"/>
          <p:cNvSpPr/>
          <p:nvPr/>
        </p:nvSpPr>
        <p:spPr>
          <a:xfrm>
            <a:off x="3246120" y="57241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productivity</a:t>
            </a:r>
            <a:endParaRPr lang="en-US" sz="730" dirty="0"/>
          </a:p>
        </p:txBody>
      </p:sp>
      <p:sp>
        <p:nvSpPr>
          <p:cNvPr id="95" name="Shape 76"/>
          <p:cNvSpPr/>
          <p:nvPr/>
        </p:nvSpPr>
        <p:spPr>
          <a:xfrm>
            <a:off x="6080760" y="52852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6" name="Text 77"/>
          <p:cNvSpPr/>
          <p:nvPr/>
        </p:nvSpPr>
        <p:spPr>
          <a:xfrm>
            <a:off x="6080760" y="5358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2100" dirty="0"/>
          </a:p>
        </p:txBody>
      </p:sp>
      <p:sp>
        <p:nvSpPr>
          <p:cNvPr id="97" name="Text 78"/>
          <p:cNvSpPr/>
          <p:nvPr/>
        </p:nvSpPr>
        <p:spPr>
          <a:xfrm>
            <a:off x="6126480" y="57241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 work</a:t>
            </a:r>
            <a:endParaRPr lang="en-US" sz="730" dirty="0"/>
          </a:p>
        </p:txBody>
      </p:sp>
      <p:sp>
        <p:nvSpPr>
          <p:cNvPr id="98" name="Shape 79"/>
          <p:cNvSpPr/>
          <p:nvPr/>
        </p:nvSpPr>
        <p:spPr>
          <a:xfrm>
            <a:off x="8961120" y="5285232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9" name="Text 80"/>
          <p:cNvSpPr/>
          <p:nvPr/>
        </p:nvSpPr>
        <p:spPr>
          <a:xfrm>
            <a:off x="8961120" y="53583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90%+</a:t>
            </a:r>
            <a:endParaRPr lang="en-US" sz="2100" dirty="0"/>
          </a:p>
        </p:txBody>
      </p:sp>
      <p:sp>
        <p:nvSpPr>
          <p:cNvPr id="100" name="Text 81"/>
          <p:cNvSpPr/>
          <p:nvPr/>
        </p:nvSpPr>
        <p:spPr>
          <a:xfrm>
            <a:off x="9006840" y="57241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satisfaction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 OF 15 - EXTENSIBILITY, CUSTOMIZATION AND FUTURE READY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41248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today. Ready for tomorrow.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114300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" y="11612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CUSTOMIZABLE FOR EVERY CITY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1600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056" y="166420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600200"/>
            <a:ext cx="960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68680" y="186537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without rebuilding.</a:t>
            </a:r>
            <a:endParaRPr lang="en-US" sz="690" dirty="0"/>
          </a:p>
        </p:txBody>
      </p:sp>
      <p:sp>
        <p:nvSpPr>
          <p:cNvPr id="14" name="Shape 11"/>
          <p:cNvSpPr/>
          <p:nvPr/>
        </p:nvSpPr>
        <p:spPr>
          <a:xfrm>
            <a:off x="2148840" y="1508760"/>
            <a:ext cx="1600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6856" y="16642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97480" y="1600200"/>
            <a:ext cx="960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697480" y="186537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without rebuilding.</a:t>
            </a:r>
            <a:endParaRPr lang="en-US" sz="690" dirty="0"/>
          </a:p>
        </p:txBody>
      </p:sp>
      <p:sp>
        <p:nvSpPr>
          <p:cNvPr id="18" name="Shape 14"/>
          <p:cNvSpPr/>
          <p:nvPr/>
        </p:nvSpPr>
        <p:spPr>
          <a:xfrm>
            <a:off x="320040" y="2441448"/>
            <a:ext cx="1600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56" y="259689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532888"/>
            <a:ext cx="960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68680" y="27980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without rebuilding.</a:t>
            </a:r>
            <a:endParaRPr lang="en-US" sz="690" dirty="0"/>
          </a:p>
        </p:txBody>
      </p:sp>
      <p:sp>
        <p:nvSpPr>
          <p:cNvPr id="22" name="Shape 17"/>
          <p:cNvSpPr/>
          <p:nvPr/>
        </p:nvSpPr>
        <p:spPr>
          <a:xfrm>
            <a:off x="2148840" y="2441448"/>
            <a:ext cx="1600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6856" y="259689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697480" y="2532888"/>
            <a:ext cx="960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2697480" y="27980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without rebuilding.</a:t>
            </a:r>
            <a:endParaRPr lang="en-US" sz="690" dirty="0"/>
          </a:p>
        </p:txBody>
      </p:sp>
      <p:sp>
        <p:nvSpPr>
          <p:cNvPr id="26" name="Shape 20"/>
          <p:cNvSpPr/>
          <p:nvPr/>
        </p:nvSpPr>
        <p:spPr>
          <a:xfrm>
            <a:off x="320040" y="3374136"/>
            <a:ext cx="160020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056" y="352958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3465576"/>
            <a:ext cx="960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868680" y="3730752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Configurable without rebuilding.</a:t>
            </a:r>
            <a:endParaRPr lang="en-US" sz="690" dirty="0"/>
          </a:p>
        </p:txBody>
      </p:sp>
      <p:sp>
        <p:nvSpPr>
          <p:cNvPr id="30" name="Shape 23"/>
          <p:cNvSpPr/>
          <p:nvPr/>
        </p:nvSpPr>
        <p:spPr>
          <a:xfrm>
            <a:off x="4297680" y="1143000"/>
            <a:ext cx="374904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334256" y="11612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EXTENSIBLE PLATFORM</a:t>
            </a:r>
            <a:endParaRPr lang="en-US" sz="82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4840" y="1540764"/>
            <a:ext cx="118872" cy="1188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99432" y="150876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apps</a:t>
            </a:r>
            <a:endParaRPr lang="en-US" sz="76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34840" y="1897380"/>
            <a:ext cx="118872" cy="1188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599432" y="186537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devices</a:t>
            </a:r>
            <a:endParaRPr lang="en-US" sz="76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34840" y="2253996"/>
            <a:ext cx="118872" cy="11887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599432" y="2221992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ML services</a:t>
            </a:r>
            <a:endParaRPr lang="en-US" sz="76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34840" y="2610612"/>
            <a:ext cx="118872" cy="1188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599432" y="257860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REST APIs</a:t>
            </a:r>
            <a:endParaRPr lang="en-US" sz="76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34840" y="2967228"/>
            <a:ext cx="118872" cy="11887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599432" y="2935224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76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434840" y="3323844"/>
            <a:ext cx="118872" cy="11887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4599432" y="3291840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export</a:t>
            </a:r>
            <a:endParaRPr lang="en-US" sz="76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434840" y="3680460"/>
            <a:ext cx="118872" cy="11887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599432" y="3648456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 and IAM</a:t>
            </a:r>
            <a:endParaRPr lang="en-US" sz="760" dirty="0"/>
          </a:p>
        </p:txBody>
      </p:sp>
      <p:sp>
        <p:nvSpPr>
          <p:cNvPr id="46" name="Shape 32"/>
          <p:cNvSpPr/>
          <p:nvPr/>
        </p:nvSpPr>
        <p:spPr>
          <a:xfrm>
            <a:off x="8366760" y="1143000"/>
            <a:ext cx="358444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8403336" y="11612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READY CAPABILITIES</a:t>
            </a:r>
            <a:endParaRPr lang="en-US" sz="82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58200" y="1540764"/>
            <a:ext cx="118872" cy="118872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8622792" y="150876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insights</a:t>
            </a:r>
            <a:endParaRPr lang="en-US" sz="76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58200" y="1924812"/>
            <a:ext cx="118872" cy="118872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8622792" y="189280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Conversational AI</a:t>
            </a:r>
            <a:endParaRPr lang="en-US" sz="76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458200" y="2308860"/>
            <a:ext cx="118872" cy="118872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8622792" y="227685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</a:t>
            </a:r>
            <a:endParaRPr lang="en-US" sz="76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58200" y="2692908"/>
            <a:ext cx="118872" cy="118872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8622792" y="266090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</a:t>
            </a:r>
            <a:endParaRPr lang="en-US" sz="76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458200" y="3076956"/>
            <a:ext cx="118872" cy="118872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8622792" y="3044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and IoT expansion</a:t>
            </a:r>
            <a:endParaRPr lang="en-US" sz="760" dirty="0"/>
          </a:p>
        </p:txBody>
      </p:sp>
      <p:sp>
        <p:nvSpPr>
          <p:cNvPr id="58" name="Shape 39"/>
          <p:cNvSpPr/>
          <p:nvPr/>
        </p:nvSpPr>
        <p:spPr>
          <a:xfrm>
            <a:off x="228600" y="4754880"/>
            <a:ext cx="1172260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Text 40"/>
          <p:cNvSpPr/>
          <p:nvPr/>
        </p:nvSpPr>
        <p:spPr>
          <a:xfrm>
            <a:off x="265176" y="4773168"/>
            <a:ext cx="1164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FLEXIBILITY</a:t>
            </a:r>
            <a:endParaRPr lang="en-US" sz="820" dirty="0"/>
          </a:p>
        </p:txBody>
      </p:sp>
      <p:sp>
        <p:nvSpPr>
          <p:cNvPr id="60" name="Shape 41"/>
          <p:cNvSpPr/>
          <p:nvPr/>
        </p:nvSpPr>
        <p:spPr>
          <a:xfrm>
            <a:off x="320040" y="5102352"/>
            <a:ext cx="19659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48056" y="5257800"/>
            <a:ext cx="329184" cy="329184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868680" y="5193792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850" dirty="0"/>
          </a:p>
        </p:txBody>
      </p:sp>
      <p:sp>
        <p:nvSpPr>
          <p:cNvPr id="63" name="Text 43"/>
          <p:cNvSpPr/>
          <p:nvPr/>
        </p:nvSpPr>
        <p:spPr>
          <a:xfrm>
            <a:off x="868680" y="5458968"/>
            <a:ext cx="13258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option.</a:t>
            </a:r>
            <a:endParaRPr lang="en-US" sz="690" dirty="0"/>
          </a:p>
        </p:txBody>
      </p:sp>
      <p:sp>
        <p:nvSpPr>
          <p:cNvPr id="64" name="Shape 44"/>
          <p:cNvSpPr/>
          <p:nvPr/>
        </p:nvSpPr>
        <p:spPr>
          <a:xfrm>
            <a:off x="2624328" y="5102352"/>
            <a:ext cx="19659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65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752344" y="5257800"/>
            <a:ext cx="329184" cy="329184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3172968" y="5193792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</a:t>
            </a:r>
            <a:endParaRPr lang="en-US" sz="850" dirty="0"/>
          </a:p>
        </p:txBody>
      </p:sp>
      <p:sp>
        <p:nvSpPr>
          <p:cNvPr id="67" name="Text 46"/>
          <p:cNvSpPr/>
          <p:nvPr/>
        </p:nvSpPr>
        <p:spPr>
          <a:xfrm>
            <a:off x="3172968" y="5458968"/>
            <a:ext cx="13258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option.</a:t>
            </a:r>
            <a:endParaRPr lang="en-US" sz="690" dirty="0"/>
          </a:p>
        </p:txBody>
      </p:sp>
      <p:sp>
        <p:nvSpPr>
          <p:cNvPr id="68" name="Shape 47"/>
          <p:cNvSpPr/>
          <p:nvPr/>
        </p:nvSpPr>
        <p:spPr>
          <a:xfrm>
            <a:off x="4928616" y="5102352"/>
            <a:ext cx="19659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056632" y="5257800"/>
            <a:ext cx="329184" cy="329184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5477256" y="5193792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850" dirty="0"/>
          </a:p>
        </p:txBody>
      </p:sp>
      <p:sp>
        <p:nvSpPr>
          <p:cNvPr id="71" name="Text 49"/>
          <p:cNvSpPr/>
          <p:nvPr/>
        </p:nvSpPr>
        <p:spPr>
          <a:xfrm>
            <a:off x="5477256" y="5458968"/>
            <a:ext cx="13258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option.</a:t>
            </a:r>
            <a:endParaRPr lang="en-US" sz="690" dirty="0"/>
          </a:p>
        </p:txBody>
      </p:sp>
      <p:sp>
        <p:nvSpPr>
          <p:cNvPr id="72" name="Shape 50"/>
          <p:cNvSpPr/>
          <p:nvPr/>
        </p:nvSpPr>
        <p:spPr>
          <a:xfrm>
            <a:off x="7232904" y="5102352"/>
            <a:ext cx="19659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73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360920" y="5257800"/>
            <a:ext cx="329184" cy="329184"/>
          </a:xfrm>
          <a:prstGeom prst="rect">
            <a:avLst/>
          </a:prstGeom>
        </p:spPr>
      </p:pic>
      <p:sp>
        <p:nvSpPr>
          <p:cNvPr id="74" name="Text 51"/>
          <p:cNvSpPr/>
          <p:nvPr/>
        </p:nvSpPr>
        <p:spPr>
          <a:xfrm>
            <a:off x="7781544" y="5193792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ready</a:t>
            </a:r>
            <a:endParaRPr lang="en-US" sz="850" dirty="0"/>
          </a:p>
        </p:txBody>
      </p:sp>
      <p:sp>
        <p:nvSpPr>
          <p:cNvPr id="75" name="Text 52"/>
          <p:cNvSpPr/>
          <p:nvPr/>
        </p:nvSpPr>
        <p:spPr>
          <a:xfrm>
            <a:off x="7781544" y="5458968"/>
            <a:ext cx="13258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option.</a:t>
            </a:r>
            <a:endParaRPr lang="en-US" sz="690" dirty="0"/>
          </a:p>
        </p:txBody>
      </p:sp>
      <p:sp>
        <p:nvSpPr>
          <p:cNvPr id="76" name="Shape 53"/>
          <p:cNvSpPr/>
          <p:nvPr/>
        </p:nvSpPr>
        <p:spPr>
          <a:xfrm>
            <a:off x="9537192" y="5102352"/>
            <a:ext cx="19659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8000"/>
              </a:srgbClr>
            </a:outerShdw>
          </a:effectLst>
        </p:spPr>
      </p:sp>
      <p:pic>
        <p:nvPicPr>
          <p:cNvPr id="77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665208" y="5257800"/>
            <a:ext cx="329184" cy="329184"/>
          </a:xfrm>
          <a:prstGeom prst="rect">
            <a:avLst/>
          </a:prstGeom>
        </p:spPr>
      </p:pic>
      <p:sp>
        <p:nvSpPr>
          <p:cNvPr id="78" name="Text 54"/>
          <p:cNvSpPr/>
          <p:nvPr/>
        </p:nvSpPr>
        <p:spPr>
          <a:xfrm>
            <a:off x="10085832" y="5193792"/>
            <a:ext cx="13258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and recovery</a:t>
            </a:r>
            <a:endParaRPr lang="en-US" sz="850" dirty="0"/>
          </a:p>
        </p:txBody>
      </p:sp>
      <p:sp>
        <p:nvSpPr>
          <p:cNvPr id="79" name="Text 55"/>
          <p:cNvSpPr/>
          <p:nvPr/>
        </p:nvSpPr>
        <p:spPr>
          <a:xfrm>
            <a:off x="10085832" y="5458968"/>
            <a:ext cx="13258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deployment option.</a:t>
            </a:r>
            <a:endParaRPr lang="en-US" sz="6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097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1097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0CA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 OF 15 - SMART CITIES, BETTER TOMORROW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881360" y="164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BBDE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2880" y="868680"/>
            <a:ext cx="11795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65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for your time, attention and belief in better civic systems.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2743200" cy="27432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BUILD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933956"/>
            <a:ext cx="118872" cy="1188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" y="190195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time</a:t>
            </a:r>
            <a:endParaRPr lang="en-US" sz="76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318004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7512" y="228600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transparency</a:t>
            </a:r>
            <a:endParaRPr lang="en-US" sz="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2702052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12" y="267004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efficiency</a:t>
            </a:r>
            <a:endParaRPr lang="en-US" sz="76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2920" y="3086100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" y="305409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Empower teams</a:t>
            </a:r>
            <a:endParaRPr lang="en-US" sz="76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920" y="3470148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7512" y="343814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Delight citizens</a:t>
            </a:r>
            <a:endParaRPr lang="en-US" sz="760" dirty="0"/>
          </a:p>
        </p:txBody>
      </p:sp>
      <p:sp>
        <p:nvSpPr>
          <p:cNvPr id="20" name="Text 13"/>
          <p:cNvSpPr/>
          <p:nvPr/>
        </p:nvSpPr>
        <p:spPr>
          <a:xfrm>
            <a:off x="3383280" y="13258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1" name="Shape 14"/>
          <p:cNvSpPr/>
          <p:nvPr/>
        </p:nvSpPr>
        <p:spPr>
          <a:xfrm>
            <a:off x="3520440" y="2139696"/>
            <a:ext cx="5166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611880" y="221284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BEING PART OF THE JANHELP JOURNEY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3337560" y="2743200"/>
            <a:ext cx="55778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we can create smarter decisions, stronger teams and better cities for everyone.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337560" y="3456432"/>
            <a:ext cx="5577840" cy="8046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520440" y="37490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TEAMWORK  |  TRUST  |  IMPACT  |  SERVICE  |  CARE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189720" y="1325880"/>
            <a:ext cx="2743200" cy="27432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28116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64040" y="1933956"/>
            <a:ext cx="118872" cy="1188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28632" y="190195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decisions</a:t>
            </a:r>
            <a:endParaRPr lang="en-US" sz="76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4040" y="2318004"/>
            <a:ext cx="118872" cy="1188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28632" y="2286000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collaboration</a:t>
            </a:r>
            <a:endParaRPr lang="en-US" sz="76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64040" y="2702052"/>
            <a:ext cx="118872" cy="1188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628632" y="267004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outcomes</a:t>
            </a:r>
            <a:endParaRPr lang="en-US" sz="76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64040" y="3086100"/>
            <a:ext cx="118872" cy="1188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628632" y="305409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Happier communities</a:t>
            </a:r>
            <a:endParaRPr lang="en-US" sz="76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64040" y="3470148"/>
            <a:ext cx="118872" cy="1188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628632" y="343814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46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Future-ready cities</a:t>
            </a:r>
            <a:endParaRPr lang="en-US" sz="760" dirty="0"/>
          </a:p>
        </p:txBody>
      </p:sp>
      <p:sp>
        <p:nvSpPr>
          <p:cNvPr id="38" name="Shape 26"/>
          <p:cNvSpPr/>
          <p:nvPr/>
        </p:nvSpPr>
        <p:spPr>
          <a:xfrm>
            <a:off x="228600" y="4709160"/>
            <a:ext cx="1172260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0000"/>
              </a:srgbClr>
            </a:outerShdw>
          </a:effectLst>
        </p:spPr>
      </p:sp>
      <p:sp>
        <p:nvSpPr>
          <p:cNvPr id="39" name="Shape 27"/>
          <p:cNvSpPr/>
          <p:nvPr/>
        </p:nvSpPr>
        <p:spPr>
          <a:xfrm>
            <a:off x="228600" y="4709160"/>
            <a:ext cx="11722608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320040" y="4773168"/>
            <a:ext cx="1153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AND A - WE WOULD LOVE TO HEAR FROM YOU</a:t>
            </a:r>
            <a:endParaRPr lang="en-US" sz="11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51560" y="5230368"/>
            <a:ext cx="256032" cy="256032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1371600" y="5257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9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40480" y="5230368"/>
            <a:ext cx="256032" cy="256032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4160520" y="5257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9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29400" y="5230368"/>
            <a:ext cx="256032" cy="25603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6949440" y="5257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</a:t>
            </a:r>
            <a:endParaRPr lang="en-US" sz="9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418320" y="5230368"/>
            <a:ext cx="256032" cy="256032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9738360" y="5257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49" name="Shape 33"/>
          <p:cNvSpPr/>
          <p:nvPr/>
        </p:nvSpPr>
        <p:spPr>
          <a:xfrm>
            <a:off x="164592" y="5687568"/>
            <a:ext cx="11859768" cy="5669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50" name="Text 34"/>
          <p:cNvSpPr/>
          <p:nvPr/>
        </p:nvSpPr>
        <p:spPr>
          <a:xfrm>
            <a:off x="274320" y="5742432"/>
            <a:ext cx="1163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build better cities, together.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JanHelp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JanHelp - AI Smart City Complaint Platform</dc:title>
  <dc:subject>JanHelp Smart City Complaint Management Platform</dc:subject>
  <dc:creator>Team JanHelp</dc:creator>
  <cp:lastModifiedBy>Team JanHelp</cp:lastModifiedBy>
  <cp:revision>1</cp:revision>
  <dcterms:created xsi:type="dcterms:W3CDTF">2026-05-31T18:12:16Z</dcterms:created>
  <dcterms:modified xsi:type="dcterms:W3CDTF">2026-05-31T18:12:16Z</dcterms:modified>
</cp:coreProperties>
</file>