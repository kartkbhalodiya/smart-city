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979" y="2245817"/>
            <a:ext cx="3955859" cy="289768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5136" y="2406550"/>
            <a:ext cx="4768863" cy="13037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9170" y="1437680"/>
            <a:ext cx="388442" cy="45987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7979" y="1437680"/>
            <a:ext cx="388442" cy="4598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9039" y="263425"/>
            <a:ext cx="428625" cy="12948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1456" y="187523"/>
            <a:ext cx="6241864" cy="36611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84574" y="357187"/>
            <a:ext cx="442020" cy="1250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90536" y="1368425"/>
            <a:ext cx="3396615" cy="516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8282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olutionchallgnggsupport@hack2skill.com" TargetMode="Externa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649" y="933729"/>
            <a:ext cx="26073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75" b="1">
                <a:solidFill>
                  <a:srgbClr val="4285F4"/>
                </a:solidFill>
                <a:latin typeface="Tahoma"/>
                <a:cs typeface="Tahoma"/>
              </a:rPr>
              <a:t>Guidelines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25" y="1776680"/>
            <a:ext cx="8722995" cy="266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4094" marR="939800" indent="-34417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1014094" algn="l"/>
              </a:tabLst>
            </a:pP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KindlQ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usg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givgn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tgmplatg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fior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submitting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Qour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prototQpg(Makg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copQ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ofi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thg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tgmplatg)</a:t>
            </a:r>
            <a:endParaRPr sz="1500">
              <a:latin typeface="Tahoma"/>
              <a:cs typeface="Tahoma"/>
            </a:endParaRPr>
          </a:p>
          <a:p>
            <a:pPr marL="1013460" indent="-343535">
              <a:lnSpc>
                <a:spcPct val="100000"/>
              </a:lnSpc>
              <a:buFont typeface="Microsoft Sans Serif"/>
              <a:buChar char="●"/>
              <a:tabLst>
                <a:tab pos="1013460" algn="l"/>
              </a:tabLst>
            </a:pPr>
            <a:r>
              <a:rPr dirty="0" sz="1500" spc="50">
                <a:solidFill>
                  <a:srgbClr val="434343"/>
                </a:solidFill>
                <a:latin typeface="Tahoma"/>
                <a:cs typeface="Tahoma"/>
              </a:rPr>
              <a:t>Ong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tgam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is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75">
                <a:solidFill>
                  <a:srgbClr val="434343"/>
                </a:solidFill>
                <a:latin typeface="Tahoma"/>
                <a:cs typeface="Tahoma"/>
              </a:rPr>
              <a:t>onlQ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rgquirgd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to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submit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ong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projgct.</a:t>
            </a:r>
            <a:endParaRPr sz="1500">
              <a:latin typeface="Tahoma"/>
              <a:cs typeface="Tahoma"/>
            </a:endParaRPr>
          </a:p>
          <a:p>
            <a:pPr marL="1013460" indent="-343535">
              <a:lnSpc>
                <a:spcPct val="100000"/>
              </a:lnSpc>
              <a:buFont typeface="Microsoft Sans Serif"/>
              <a:buChar char="●"/>
              <a:tabLst>
                <a:tab pos="1013460" algn="l"/>
              </a:tabLst>
            </a:pP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5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idgal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sizg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ofi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prgsgntation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should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not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bg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morg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than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434343"/>
                </a:solidFill>
                <a:latin typeface="Tahoma"/>
                <a:cs typeface="Tahoma"/>
              </a:rPr>
              <a:t>10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slidgs.</a:t>
            </a:r>
            <a:endParaRPr sz="1500">
              <a:latin typeface="Tahoma"/>
              <a:cs typeface="Tahoma"/>
            </a:endParaRPr>
          </a:p>
          <a:p>
            <a:pPr marL="1013460" indent="-343535">
              <a:lnSpc>
                <a:spcPct val="100000"/>
              </a:lnSpc>
              <a:buFont typeface="Microsoft Sans Serif"/>
              <a:buChar char="●"/>
              <a:tabLst>
                <a:tab pos="1013460" algn="l"/>
              </a:tabLst>
            </a:pP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You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arg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wglcomg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to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add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as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manQ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100">
                <a:solidFill>
                  <a:srgbClr val="434343"/>
                </a:solidFill>
                <a:latin typeface="Tahoma"/>
                <a:cs typeface="Tahoma"/>
              </a:rPr>
              <a:t>POCs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and</a:t>
            </a:r>
            <a:r>
              <a:rPr dirty="0" sz="1500" spc="-5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dgsign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45">
                <a:solidFill>
                  <a:srgbClr val="434343"/>
                </a:solidFill>
                <a:latin typeface="Tahoma"/>
                <a:cs typeface="Tahoma"/>
              </a:rPr>
              <a:t>concgpts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to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45">
                <a:solidFill>
                  <a:srgbClr val="434343"/>
                </a:solidFill>
                <a:latin typeface="Tahoma"/>
                <a:cs typeface="Tahoma"/>
              </a:rPr>
              <a:t>support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434343"/>
                </a:solidFill>
                <a:latin typeface="Tahoma"/>
                <a:cs typeface="Tahoma"/>
              </a:rPr>
              <a:t>Qour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projgct.</a:t>
            </a:r>
            <a:endParaRPr sz="1500">
              <a:latin typeface="Tahoma"/>
              <a:cs typeface="Tahoma"/>
            </a:endParaRPr>
          </a:p>
          <a:p>
            <a:pPr marL="1014094" marR="534035" indent="-344170">
              <a:lnSpc>
                <a:spcPct val="100000"/>
              </a:lnSpc>
              <a:buFont typeface="Microsoft Sans Serif"/>
              <a:buChar char="●"/>
              <a:tabLst>
                <a:tab pos="1014094" algn="l"/>
              </a:tabLst>
            </a:pP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2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projgct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should</a:t>
            </a:r>
            <a:r>
              <a:rPr dirty="0" sz="1500" spc="-2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bg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434343"/>
                </a:solidFill>
                <a:latin typeface="Tahoma"/>
                <a:cs typeface="Tahoma"/>
              </a:rPr>
              <a:t>figasiblg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and</a:t>
            </a:r>
            <a:r>
              <a:rPr dirty="0" sz="1500" spc="-2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tgam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mgmbgrs</a:t>
            </a:r>
            <a:r>
              <a:rPr dirty="0" sz="1500" spc="-2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should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bg</a:t>
            </a:r>
            <a:r>
              <a:rPr dirty="0" sz="1500" spc="-1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capablg</a:t>
            </a:r>
            <a:r>
              <a:rPr dirty="0" sz="1500" spc="-2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gnough,</a:t>
            </a:r>
            <a:r>
              <a:rPr dirty="0" sz="1500" spc="500">
                <a:solidFill>
                  <a:srgbClr val="434343"/>
                </a:solidFill>
                <a:latin typeface="Tahoma"/>
                <a:cs typeface="Tahoma"/>
              </a:rPr>
              <a:t> 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to</a:t>
            </a:r>
            <a:r>
              <a:rPr dirty="0" sz="1500" spc="10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50">
                <a:solidFill>
                  <a:srgbClr val="434343"/>
                </a:solidFill>
                <a:latin typeface="Tahoma"/>
                <a:cs typeface="Tahoma"/>
              </a:rPr>
              <a:t>comg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up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with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14">
                <a:solidFill>
                  <a:srgbClr val="434343"/>
                </a:solidFill>
                <a:latin typeface="Tahoma"/>
                <a:cs typeface="Tahoma"/>
              </a:rPr>
              <a:t>fiullQ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fiunctioning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prototQpg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ofi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samg</a:t>
            </a:r>
            <a:r>
              <a:rPr dirty="0" sz="1500" spc="-8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idga,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5">
                <a:solidFill>
                  <a:srgbClr val="434343"/>
                </a:solidFill>
                <a:latin typeface="Tahoma"/>
                <a:cs typeface="Tahoma"/>
              </a:rPr>
              <a:t>ifi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rgquirgd.</a:t>
            </a:r>
            <a:endParaRPr sz="1500">
              <a:latin typeface="Tahoma"/>
              <a:cs typeface="Tahoma"/>
            </a:endParaRPr>
          </a:p>
          <a:p>
            <a:pPr marL="1013460" indent="-343535">
              <a:lnSpc>
                <a:spcPct val="100000"/>
              </a:lnSpc>
              <a:buFont typeface="Microsoft Sans Serif"/>
              <a:buChar char="●"/>
              <a:tabLst>
                <a:tab pos="1013460" algn="l"/>
              </a:tabLst>
            </a:pPr>
            <a:r>
              <a:rPr dirty="0" sz="1500" spc="-105">
                <a:solidFill>
                  <a:srgbClr val="434343"/>
                </a:solidFill>
                <a:latin typeface="Tahoma"/>
                <a:cs typeface="Tahoma"/>
              </a:rPr>
              <a:t>In</a:t>
            </a:r>
            <a:r>
              <a:rPr dirty="0" sz="1500" spc="-3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casg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ofi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qugrigs,</a:t>
            </a:r>
            <a:r>
              <a:rPr dirty="0" sz="1500" spc="-3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434343"/>
                </a:solidFill>
                <a:latin typeface="Tahoma"/>
                <a:cs typeface="Tahoma"/>
              </a:rPr>
              <a:t>kindlQ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rgach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out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to</a:t>
            </a:r>
            <a:r>
              <a:rPr dirty="0" sz="1500" spc="-3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us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at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  <a:hlinkClick r:id="rId2"/>
              </a:rPr>
              <a:t>solutionchallgnggsupport@hack2skill.com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1500" spc="-60" b="1">
                <a:solidFill>
                  <a:srgbClr val="FF0000"/>
                </a:solidFill>
                <a:latin typeface="Tahoma"/>
                <a:cs typeface="Tahoma"/>
              </a:rPr>
              <a:t>Note:</a:t>
            </a:r>
            <a:r>
              <a:rPr dirty="0" sz="1500" spc="-1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434343"/>
                </a:solidFill>
                <a:latin typeface="Tahoma"/>
                <a:cs typeface="Tahoma"/>
              </a:rPr>
              <a:t>PrototQpg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must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includg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cloud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dgploQmgnt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and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usg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at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lgast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ong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70">
                <a:solidFill>
                  <a:srgbClr val="434343"/>
                </a:solidFill>
                <a:latin typeface="Tahoma"/>
                <a:cs typeface="Tahoma"/>
              </a:rPr>
              <a:t>Googlg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434343"/>
                </a:solidFill>
                <a:latin typeface="Tahoma"/>
                <a:cs typeface="Tahoma"/>
              </a:rPr>
              <a:t>AI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modgl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or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sgrvicg</a:t>
            </a:r>
            <a:r>
              <a:rPr dirty="0" sz="1500" spc="-3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434343"/>
                </a:solidFill>
                <a:latin typeface="Tahoma"/>
                <a:cs typeface="Tahoma"/>
              </a:rPr>
              <a:t>(g.g.,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Ggmini)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as</a:t>
            </a:r>
            <a:r>
              <a:rPr dirty="0" sz="1500" spc="-4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part</a:t>
            </a:r>
            <a:r>
              <a:rPr dirty="0" sz="1500" spc="-4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434343"/>
                </a:solidFill>
                <a:latin typeface="Tahoma"/>
                <a:cs typeface="Tahoma"/>
              </a:rPr>
              <a:t>ofi</a:t>
            </a:r>
            <a:r>
              <a:rPr dirty="0" sz="1500" spc="-5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434343"/>
                </a:solidFill>
                <a:latin typeface="Tahoma"/>
                <a:cs typeface="Tahoma"/>
              </a:rPr>
              <a:t>thg</a:t>
            </a:r>
            <a:r>
              <a:rPr dirty="0" sz="1500" spc="-45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434343"/>
                </a:solidFill>
                <a:latin typeface="Tahoma"/>
                <a:cs typeface="Tahoma"/>
              </a:rPr>
              <a:t>solution.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2759710"/>
            <a:chOff x="0" y="0"/>
            <a:chExt cx="9144000" cy="27597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0" y="2448874"/>
              <a:ext cx="3771899" cy="3326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7" cy="2759277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19625" y="2959381"/>
            <a:ext cx="310896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latin typeface="Tahoma"/>
                <a:cs typeface="Tahoma"/>
              </a:rPr>
              <a:t>Team</a:t>
            </a:r>
            <a:r>
              <a:rPr dirty="0" sz="1800" spc="-105" b="1">
                <a:latin typeface="Tahoma"/>
                <a:cs typeface="Tahoma"/>
              </a:rPr>
              <a:t> </a:t>
            </a:r>
            <a:r>
              <a:rPr dirty="0" sz="1800" spc="-10" b="1">
                <a:latin typeface="Tahoma"/>
                <a:cs typeface="Tahoma"/>
              </a:rPr>
              <a:t>Details</a:t>
            </a:r>
            <a:endParaRPr sz="1800">
              <a:latin typeface="Tahoma"/>
              <a:cs typeface="Tahoma"/>
            </a:endParaRPr>
          </a:p>
          <a:p>
            <a:pPr marL="926465" indent="-42100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926465" algn="l"/>
              </a:tabLst>
            </a:pPr>
            <a:r>
              <a:rPr dirty="0" sz="1800" spc="-100" b="1">
                <a:latin typeface="Tahoma"/>
                <a:cs typeface="Tahoma"/>
              </a:rPr>
              <a:t>Team</a:t>
            </a:r>
            <a:r>
              <a:rPr dirty="0" sz="1800" spc="-105" b="1">
                <a:latin typeface="Tahoma"/>
                <a:cs typeface="Tahoma"/>
              </a:rPr>
              <a:t> </a:t>
            </a:r>
            <a:r>
              <a:rPr dirty="0" sz="1800" spc="-10" b="1">
                <a:latin typeface="Tahoma"/>
                <a:cs typeface="Tahoma"/>
              </a:rPr>
              <a:t>name:</a:t>
            </a:r>
            <a:endParaRPr sz="1800">
              <a:latin typeface="Tahoma"/>
              <a:cs typeface="Tahoma"/>
            </a:endParaRPr>
          </a:p>
          <a:p>
            <a:pPr marL="926465" indent="-433070">
              <a:lnSpc>
                <a:spcPct val="100000"/>
              </a:lnSpc>
              <a:buAutoNum type="alphaLcPeriod"/>
              <a:tabLst>
                <a:tab pos="926465" algn="l"/>
              </a:tabLst>
            </a:pPr>
            <a:r>
              <a:rPr dirty="0" sz="1800" spc="-100" b="1">
                <a:latin typeface="Tahoma"/>
                <a:cs typeface="Tahoma"/>
              </a:rPr>
              <a:t>Team </a:t>
            </a:r>
            <a:r>
              <a:rPr dirty="0" sz="1800" spc="-40" b="1">
                <a:latin typeface="Tahoma"/>
                <a:cs typeface="Tahoma"/>
              </a:rPr>
              <a:t>leader</a:t>
            </a:r>
            <a:r>
              <a:rPr dirty="0" sz="1800" spc="-100" b="1">
                <a:latin typeface="Tahoma"/>
                <a:cs typeface="Tahoma"/>
              </a:rPr>
              <a:t> </a:t>
            </a:r>
            <a:r>
              <a:rPr dirty="0" sz="1800" spc="-10" b="1">
                <a:latin typeface="Tahoma"/>
                <a:cs typeface="Tahoma"/>
              </a:rPr>
              <a:t>name:</a:t>
            </a:r>
            <a:endParaRPr sz="1800">
              <a:latin typeface="Tahoma"/>
              <a:cs typeface="Tahoma"/>
            </a:endParaRPr>
          </a:p>
          <a:p>
            <a:pPr marL="926465" indent="-422909">
              <a:lnSpc>
                <a:spcPct val="100000"/>
              </a:lnSpc>
              <a:buAutoNum type="alphaLcPeriod"/>
              <a:tabLst>
                <a:tab pos="926465" algn="l"/>
              </a:tabLst>
            </a:pPr>
            <a:r>
              <a:rPr dirty="0" sz="1800" spc="-60" b="1">
                <a:latin typeface="Tahoma"/>
                <a:cs typeface="Tahoma"/>
              </a:rPr>
              <a:t>Problem</a:t>
            </a:r>
            <a:r>
              <a:rPr dirty="0" sz="1800" spc="-70" b="1">
                <a:latin typeface="Tahoma"/>
                <a:cs typeface="Tahoma"/>
              </a:rPr>
              <a:t> </a:t>
            </a:r>
            <a:r>
              <a:rPr dirty="0" sz="1800" spc="-65" b="1">
                <a:latin typeface="Tahoma"/>
                <a:cs typeface="Tahoma"/>
              </a:rPr>
              <a:t>Statement: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Picture 5" descr="slide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550" y="870230"/>
            <a:ext cx="2541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Tahoma"/>
                <a:cs typeface="Tahoma"/>
              </a:rPr>
              <a:t>Brigfi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about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80">
                <a:latin typeface="Tahoma"/>
                <a:cs typeface="Tahoma"/>
              </a:rPr>
              <a:t>Qour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6275" y="841283"/>
            <a:ext cx="6510655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800" spc="-10">
                <a:latin typeface="Tahoma"/>
                <a:cs typeface="Tahoma"/>
              </a:rPr>
              <a:t>Opportunitigs</a:t>
            </a:r>
            <a:endParaRPr sz="1800">
              <a:latin typeface="Tahoma"/>
              <a:cs typeface="Tahoma"/>
            </a:endParaRPr>
          </a:p>
          <a:p>
            <a:pPr marL="926465" indent="-403860">
              <a:lnSpc>
                <a:spcPct val="100000"/>
              </a:lnSpc>
              <a:spcBef>
                <a:spcPts val="325"/>
              </a:spcBef>
              <a:buAutoNum type="alphaLcPeriod"/>
              <a:tabLst>
                <a:tab pos="926465" algn="l"/>
              </a:tabLst>
            </a:pPr>
            <a:r>
              <a:rPr dirty="0" sz="1800" spc="55">
                <a:latin typeface="Tahoma"/>
                <a:cs typeface="Tahoma"/>
              </a:rPr>
              <a:t>How</a:t>
            </a:r>
            <a:r>
              <a:rPr dirty="0" sz="1800" spc="-11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diffgrgnt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it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firom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40">
                <a:latin typeface="Tahoma"/>
                <a:cs typeface="Tahoma"/>
              </a:rPr>
              <a:t>anQ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ofi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othgr</a:t>
            </a:r>
            <a:r>
              <a:rPr dirty="0" sz="1800" spc="-11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gxisting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idgas?</a:t>
            </a:r>
            <a:endParaRPr sz="1800">
              <a:latin typeface="Tahoma"/>
              <a:cs typeface="Tahoma"/>
            </a:endParaRPr>
          </a:p>
          <a:p>
            <a:pPr marL="926465" indent="-415925">
              <a:lnSpc>
                <a:spcPct val="100000"/>
              </a:lnSpc>
              <a:spcBef>
                <a:spcPts val="325"/>
              </a:spcBef>
              <a:buAutoNum type="alphaLcPeriod"/>
              <a:tabLst>
                <a:tab pos="926465" algn="l"/>
              </a:tabLst>
            </a:pPr>
            <a:r>
              <a:rPr dirty="0" sz="1800" spc="55">
                <a:latin typeface="Tahoma"/>
                <a:cs typeface="Tahoma"/>
              </a:rPr>
              <a:t>How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will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it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bg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ablg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solvg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problgm?</a:t>
            </a:r>
            <a:endParaRPr sz="1800">
              <a:latin typeface="Tahoma"/>
              <a:cs typeface="Tahoma"/>
            </a:endParaRPr>
          </a:p>
          <a:p>
            <a:pPr marL="926465" indent="-405765">
              <a:lnSpc>
                <a:spcPct val="100000"/>
              </a:lnSpc>
              <a:spcBef>
                <a:spcPts val="325"/>
              </a:spcBef>
              <a:buAutoNum type="alphaLcPeriod"/>
              <a:tabLst>
                <a:tab pos="926465" algn="l"/>
              </a:tabLst>
            </a:pPr>
            <a:r>
              <a:rPr dirty="0" sz="1800">
                <a:latin typeface="Tahoma"/>
                <a:cs typeface="Tahoma"/>
              </a:rPr>
              <a:t>USP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ofi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proposgd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8500" y="919105"/>
            <a:ext cx="39230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List</a:t>
            </a:r>
            <a:r>
              <a:rPr dirty="0" sz="1800" spc="-90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ofi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-45">
                <a:latin typeface="Tahoma"/>
                <a:cs typeface="Tahoma"/>
              </a:rPr>
              <a:t>figaturgs</a:t>
            </a:r>
            <a:r>
              <a:rPr dirty="0" sz="1800" spc="-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offgrgd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-160">
                <a:latin typeface="Tahoma"/>
                <a:cs typeface="Tahoma"/>
              </a:rPr>
              <a:t>bQ</a:t>
            </a:r>
            <a:r>
              <a:rPr dirty="0" sz="1800" spc="-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8500" y="894656"/>
            <a:ext cx="4428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latin typeface="Tahoma"/>
                <a:cs typeface="Tahoma"/>
              </a:rPr>
              <a:t>Procgss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flow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Usg-casg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diagram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0725" y="943531"/>
            <a:ext cx="6470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ahoma"/>
                <a:cs typeface="Tahoma"/>
              </a:rPr>
              <a:t>Wirgfiramgs/Mock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ofi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proposgd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solution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(optional)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417320"/>
            <a:ext cx="2743200" cy="502920"/>
          </a:xfrm>
          <a:prstGeom prst="roundRect">
            <a:avLst/>
          </a:prstGeom>
          <a:solidFill>
            <a:srgbClr val="E0F2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961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Aptos"/>
              </a:rPr>
              <a:t>Low-fidelity mobile wireframes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691640" cy="2606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39112"/>
            <a:ext cx="685800" cy="73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733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34155"/>
                </a:solidFill>
                <a:latin typeface="Aptos"/>
              </a:rPr>
              <a:t>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57984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Aptos"/>
              </a:rPr>
              <a:t>JanHelp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" y="2706624"/>
            <a:ext cx="129844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798064"/>
            <a:ext cx="8229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Live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9848" y="3209544"/>
            <a:ext cx="129844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300984"/>
            <a:ext cx="8229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Departments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" y="3712464"/>
            <a:ext cx="1298448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803904"/>
            <a:ext cx="8229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Aptos"/>
              </a:rPr>
              <a:t>Quick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993392"/>
            <a:ext cx="1691640" cy="2606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31920" y="2039112"/>
            <a:ext cx="685800" cy="73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6733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34155"/>
                </a:solidFill>
                <a:latin typeface="Aptos"/>
              </a:rPr>
              <a:t>AI Assistant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157984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Aptos"/>
              </a:rPr>
              <a:t>JanHelp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2798064"/>
            <a:ext cx="914400" cy="256032"/>
          </a:xfrm>
          <a:prstGeom prst="roundRect">
            <a:avLst/>
          </a:prstGeom>
          <a:solidFill>
            <a:srgbClr val="E0F2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40479" y="3182112"/>
            <a:ext cx="914400" cy="256032"/>
          </a:xfrm>
          <a:prstGeom prst="roundRect">
            <a:avLst/>
          </a:prstGeom>
          <a:solidFill>
            <a:srgbClr val="DCFCE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03320" y="3566160"/>
            <a:ext cx="914400" cy="256032"/>
          </a:xfrm>
          <a:prstGeom prst="roundRect">
            <a:avLst/>
          </a:prstGeom>
          <a:solidFill>
            <a:srgbClr val="E0F2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79" y="3950208"/>
            <a:ext cx="914400" cy="256032"/>
          </a:xfrm>
          <a:prstGeom prst="roundRect">
            <a:avLst/>
          </a:prstGeom>
          <a:solidFill>
            <a:srgbClr val="EDE9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30168" y="4169664"/>
            <a:ext cx="1298448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4215384"/>
            <a:ext cx="107899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Describe issue in any 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1993392"/>
            <a:ext cx="1691640" cy="2606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2039112"/>
            <a:ext cx="685800" cy="73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673352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34155"/>
                </a:solidFill>
                <a:latin typeface="Aptos"/>
              </a:rPr>
              <a:t>Track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157984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219456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Aptos"/>
              </a:rPr>
              <a:t>JanHelp</a:t>
            </a:r>
          </a:p>
        </p:txBody>
      </p:sp>
      <p:sp>
        <p:nvSpPr>
          <p:cNvPr id="33" name="Oval 32"/>
          <p:cNvSpPr/>
          <p:nvPr/>
        </p:nvSpPr>
        <p:spPr>
          <a:xfrm>
            <a:off x="6190488" y="28620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834640"/>
            <a:ext cx="9601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4155"/>
                </a:solidFill>
                <a:latin typeface="Aptos"/>
              </a:rPr>
              <a:t>SC482913</a:t>
            </a:r>
          </a:p>
        </p:txBody>
      </p:sp>
      <p:sp>
        <p:nvSpPr>
          <p:cNvPr id="35" name="Oval 34"/>
          <p:cNvSpPr/>
          <p:nvPr/>
        </p:nvSpPr>
        <p:spPr>
          <a:xfrm>
            <a:off x="6190488" y="3319272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291840"/>
            <a:ext cx="9601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4155"/>
                </a:solidFill>
                <a:latin typeface="Aptos"/>
              </a:rPr>
              <a:t>Assigned to Road Dept</a:t>
            </a:r>
          </a:p>
        </p:txBody>
      </p:sp>
      <p:sp>
        <p:nvSpPr>
          <p:cNvPr id="37" name="Oval 36"/>
          <p:cNvSpPr/>
          <p:nvPr/>
        </p:nvSpPr>
        <p:spPr>
          <a:xfrm>
            <a:off x="6190488" y="377647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749040"/>
            <a:ext cx="9601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4155"/>
                </a:solidFill>
                <a:latin typeface="Aptos"/>
              </a:rPr>
              <a:t>In progress</a:t>
            </a:r>
          </a:p>
        </p:txBody>
      </p:sp>
      <p:sp>
        <p:nvSpPr>
          <p:cNvPr id="39" name="Oval 38"/>
          <p:cNvSpPr/>
          <p:nvPr/>
        </p:nvSpPr>
        <p:spPr>
          <a:xfrm>
            <a:off x="6190488" y="4233672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4206240"/>
            <a:ext cx="9601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4155"/>
                </a:solidFill>
                <a:latin typeface="Aptos"/>
              </a:rPr>
              <a:t>Resolved + reopen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63040" y="4645152"/>
            <a:ext cx="621792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27632" y="4681728"/>
            <a:ext cx="5852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Aptos"/>
              </a:rPr>
              <a:t>These mock screens represent the implemented citizen dashboard, AI assistant, complaint intake, and tracking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4075" y="931305"/>
            <a:ext cx="4784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Architgcturg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ofi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proposgd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850" y="919105"/>
            <a:ext cx="4004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Tgchnologigs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bg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usgd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30">
                <a:latin typeface="Tahoma"/>
                <a:cs typeface="Tahoma"/>
              </a:rPr>
              <a:t>in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solution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1850" y="882431"/>
            <a:ext cx="4243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Estimatgd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implgmgntation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75">
                <a:latin typeface="Tahoma"/>
                <a:cs typeface="Tahoma"/>
              </a:rPr>
              <a:t>cost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(optional)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417320"/>
            <a:ext cx="301752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9616"/>
            <a:ext cx="2651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Illustrative pilot estimate for a small-city rollout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7589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Aptos"/>
              </a:rPr>
              <a:t>Cost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14884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  <a:latin typeface="Aptos"/>
              </a:rPr>
              <a:t>Estimated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32304"/>
            <a:ext cx="6858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ptos"/>
              </a:rPr>
              <a:t>Cloud hosting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468880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334155"/>
                </a:solidFill>
                <a:latin typeface="Aptos"/>
              </a:rPr>
              <a:t>Rs 0 - 2,000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79776"/>
            <a:ext cx="6858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16352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ptos"/>
              </a:rPr>
              <a:t>Database and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16352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334155"/>
                </a:solidFill>
                <a:latin typeface="Aptos"/>
              </a:rPr>
              <a:t>Rs 0 - 3,500 /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27248"/>
            <a:ext cx="6858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63824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ptos"/>
              </a:rPr>
              <a:t>Cloudinary media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63824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334155"/>
                </a:solidFill>
                <a:latin typeface="Aptos"/>
              </a:rPr>
              <a:t>Rs 0 - 2,500 /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474720"/>
            <a:ext cx="6858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11296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ptos"/>
              </a:rPr>
              <a:t>Gemini and AI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11296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334155"/>
                </a:solidFill>
                <a:latin typeface="Aptos"/>
              </a:rPr>
              <a:t>Rs 1,000 - 4,000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822192"/>
            <a:ext cx="68580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858768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ptos"/>
              </a:rPr>
              <a:t>Email, alerts, and maintenance 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8587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334155"/>
                </a:solidFill>
                <a:latin typeface="Aptos"/>
              </a:rPr>
              <a:t>Rs 1,500 - 3,000 /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06240"/>
            <a:ext cx="6858000" cy="42062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79392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Aptos"/>
              </a:rPr>
              <a:t>Estimated pilot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261104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4ED8"/>
                </a:solidFill>
                <a:latin typeface="Aptos"/>
              </a:rPr>
              <a:t>Approx Rs 4,500 - 15,000 / 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4709160"/>
            <a:ext cx="6126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4754880"/>
            <a:ext cx="5806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334155"/>
                </a:solidFill>
                <a:latin typeface="Aptos"/>
              </a:rPr>
              <a:t>The MVP can begin on free or low-cost tiers and scale costs only when complaint volume grows.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2925" y="919105"/>
            <a:ext cx="2280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Snapshots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ofi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thg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MVP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2975" y="845780"/>
            <a:ext cx="4730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Additional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Dgtails/Futurg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Dgvglopmgnt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-135">
                <a:latin typeface="Tahoma"/>
                <a:cs typeface="Tahoma"/>
              </a:rPr>
              <a:t>(ifi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-75">
                <a:latin typeface="Tahoma"/>
                <a:cs typeface="Tahoma"/>
              </a:rPr>
              <a:t>anQ)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9625" y="906881"/>
            <a:ext cx="339979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Providg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links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Qour:</a:t>
            </a:r>
            <a:endParaRPr sz="1800">
              <a:latin typeface="Tahoma"/>
              <a:cs typeface="Tahoma"/>
            </a:endParaRPr>
          </a:p>
          <a:p>
            <a:pPr marL="469265" indent="-38036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469265" algn="l"/>
              </a:tabLst>
            </a:pPr>
            <a:r>
              <a:rPr dirty="0" sz="1800" spc="60">
                <a:latin typeface="Tahoma"/>
                <a:cs typeface="Tahoma"/>
              </a:rPr>
              <a:t>GitHub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Public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RgpositorQ</a:t>
            </a:r>
            <a:endParaRPr sz="1800">
              <a:latin typeface="Tahoma"/>
              <a:cs typeface="Tahoma"/>
            </a:endParaRPr>
          </a:p>
          <a:p>
            <a:pPr marL="469265" indent="-40195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800">
                <a:latin typeface="Tahoma"/>
                <a:cs typeface="Tahoma"/>
              </a:rPr>
              <a:t>Dgmo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Vidgo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Link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85">
                <a:latin typeface="Tahoma"/>
                <a:cs typeface="Tahoma"/>
              </a:rPr>
              <a:t>(3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Minutgs)</a:t>
            </a:r>
            <a:endParaRPr sz="1800">
              <a:latin typeface="Tahoma"/>
              <a:cs typeface="Tahoma"/>
            </a:endParaRPr>
          </a:p>
          <a:p>
            <a:pPr marL="469265" indent="-403860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800" spc="90">
                <a:latin typeface="Tahoma"/>
                <a:cs typeface="Tahoma"/>
              </a:rPr>
              <a:t>MVP</a:t>
            </a:r>
            <a:r>
              <a:rPr dirty="0" sz="1800" spc="-14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Link</a:t>
            </a:r>
            <a:endParaRPr sz="1800">
              <a:latin typeface="Tahoma"/>
              <a:cs typeface="Tahoma"/>
            </a:endParaRPr>
          </a:p>
          <a:p>
            <a:pPr marL="469265" indent="-41719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800">
                <a:latin typeface="Tahoma"/>
                <a:cs typeface="Tahoma"/>
              </a:rPr>
              <a:t>Working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PrototQpg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Link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pic>
        <p:nvPicPr>
          <p:cNvPr id="4" name="Picture 3" descr="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" y="66971"/>
            <a:ext cx="8715377" cy="43754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640080"/>
            <a:ext cx="2926080" cy="53035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40664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  <a:latin typeface="Aptos"/>
              </a:rPr>
              <a:t>Pilot Readiness and Expected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2316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20939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tos"/>
              </a:rPr>
              <a:t>24/7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37944"/>
            <a:ext cx="209397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Citizens can report issues anytime through multilingual guided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423160" cy="10972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563624"/>
            <a:ext cx="20939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Aptos"/>
              </a:rPr>
              <a:t>Cleaner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37944"/>
            <a:ext cx="209397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AI proof checks and duplicate suppression improve complaint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242316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563624"/>
            <a:ext cx="209397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Faster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1837944"/>
            <a:ext cx="209397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Nearest-department assignment reduces manual triage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7889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Aptos"/>
              </a:rPr>
              <a:t>Why JanHelp is deployment-ready now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33192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4612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Cloud deployment already defined in the backend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7764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70332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Google Gemini usage already built into proof verification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42336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160520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Citizen, department, and admin workflows already modeled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788920"/>
            <a:ext cx="3017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92608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Aptos"/>
              </a:rPr>
              <a:t>Suggested pilot KPIs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33192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24612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Complaint submission time reduced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37764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370332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Duplicate complaints reduced</a:t>
            </a:r>
          </a:p>
        </p:txBody>
      </p:sp>
      <p:sp>
        <p:nvSpPr>
          <p:cNvPr id="28" name="Oval 27"/>
          <p:cNvSpPr/>
          <p:nvPr/>
        </p:nvSpPr>
        <p:spPr>
          <a:xfrm>
            <a:off x="4846320" y="42336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16052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Routing accuracy improved</a:t>
            </a:r>
          </a:p>
        </p:txBody>
      </p:sp>
      <p:sp>
        <p:nvSpPr>
          <p:cNvPr id="30" name="Oval 29"/>
          <p:cNvSpPr/>
          <p:nvPr/>
        </p:nvSpPr>
        <p:spPr>
          <a:xfrm>
            <a:off x="4846320" y="46908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4617720"/>
            <a:ext cx="2423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Citizen satisfaction improved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3925" y="106114"/>
            <a:ext cx="996315" cy="487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">
              <a:lnSpc>
                <a:spcPts val="1845"/>
              </a:lnSpc>
              <a:spcBef>
                <a:spcPts val="105"/>
              </a:spcBef>
            </a:pPr>
            <a:r>
              <a:rPr dirty="0" sz="1800" spc="50">
                <a:solidFill>
                  <a:srgbClr val="FBE2A3"/>
                </a:solidFill>
                <a:latin typeface="Arial MT"/>
                <a:cs typeface="Arial MT"/>
              </a:rPr>
              <a:t>$</a:t>
            </a:r>
            <a:r>
              <a:rPr dirty="0" sz="1800" spc="-215">
                <a:solidFill>
                  <a:srgbClr val="FBE2A3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F0F0F"/>
                </a:solidFill>
                <a:latin typeface="Arial MT"/>
                <a:cs typeface="Arial MT"/>
              </a:rPr>
              <a:t>Builds</a:t>
            </a:r>
            <a:r>
              <a:rPr dirty="0" sz="1800" spc="-7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DE8AC"/>
                </a:solidFill>
                <a:latin typeface="Arial MT"/>
                <a:cs typeface="Arial MT"/>
              </a:rPr>
              <a:t>$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785"/>
              </a:lnSpc>
            </a:pPr>
            <a:r>
              <a:rPr dirty="0" sz="1750" spc="-145">
                <a:solidFill>
                  <a:srgbClr val="F4E9B1"/>
                </a:solidFill>
                <a:latin typeface="Arial MT"/>
                <a:cs typeface="Arial MT"/>
              </a:rPr>
              <a:t>&amp;</a:t>
            </a:r>
            <a:r>
              <a:rPr dirty="0" sz="1750" spc="-65">
                <a:solidFill>
                  <a:srgbClr val="F4E9B1"/>
                </a:solidFill>
                <a:latin typeface="Arial MT"/>
                <a:cs typeface="Arial MT"/>
              </a:rPr>
              <a:t> </a:t>
            </a:r>
            <a:r>
              <a:rPr dirty="0" sz="1750" spc="-10">
                <a:solidFill>
                  <a:srgbClr val="151515"/>
                </a:solidFill>
                <a:latin typeface="Arial MT"/>
                <a:cs typeface="Arial MT"/>
              </a:rPr>
              <a:t>with</a:t>
            </a:r>
            <a:r>
              <a:rPr dirty="0" sz="1750" spc="-29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750" spc="-25">
                <a:solidFill>
                  <a:srgbClr val="151515"/>
                </a:solidFill>
                <a:latin typeface="Arial MT"/>
                <a:cs typeface="Arial MT"/>
              </a:rPr>
              <a:t>Al</a:t>
            </a:r>
            <a:r>
              <a:rPr dirty="0" sz="1750" spc="-12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750" spc="-50">
                <a:solidFill>
                  <a:srgbClr val="FFE8A8"/>
                </a:solidFill>
                <a:latin typeface="Arial MT"/>
                <a:cs typeface="Arial MT"/>
              </a:rPr>
              <a:t>#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2A2A2A"/>
                </a:solidFill>
              </a:rPr>
              <a:t>Solution</a:t>
            </a:r>
            <a:r>
              <a:rPr dirty="0" spc="-245">
                <a:solidFill>
                  <a:srgbClr val="2A2A2A"/>
                </a:solidFill>
              </a:rPr>
              <a:t> </a:t>
            </a:r>
            <a:r>
              <a:rPr dirty="0" spc="-10"/>
              <a:t>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51460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D4ED8"/>
                </a:solidFill>
                <a:latin typeface="Aptos"/>
              </a:rPr>
              <a:t>JanHelp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15468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ptos"/>
              </a:rPr>
              <a:t>AI-enabled civic complaint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45643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Team: JanHelp  |  Lead: Kartik Bhalodiya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51760"/>
            <a:ext cx="2426608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3434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[EXT] Solution Challenge 2026 - Prototype PPT Template</dc:title>
  <dcterms:created xsi:type="dcterms:W3CDTF">2026-03-30T12:17:31Z</dcterms:created>
  <dcterms:modified xsi:type="dcterms:W3CDTF">2026-03-30T12:17:31Z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2026-03-30T00:00:00Z</vt:filetime>
  </property>
</Properties>
</file>